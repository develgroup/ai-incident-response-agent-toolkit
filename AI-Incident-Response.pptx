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image" Target="../media/image-7-10.png"/><Relationship Id="rId11" Type="http://schemas.openxmlformats.org/officeDocument/2006/relationships/image" Target="../media/image-7-11.png"/><Relationship Id="rId12" Type="http://schemas.openxmlformats.org/officeDocument/2006/relationships/image" Target="../media/image-7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image" Target="../media/image-9-9.png"/><Relationship Id="rId10" Type="http://schemas.openxmlformats.org/officeDocument/2006/relationships/image" Target="../media/image-9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image" Target="../media/image-1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image" Target="../media/image-1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0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E11D48"/>
          </a:solidFill>
          <a:ln/>
        </p:spPr>
      </p:sp>
      <p:sp>
        <p:nvSpPr>
          <p:cNvPr id="3" name="Shape 1"/>
          <p:cNvSpPr/>
          <p:nvPr/>
        </p:nvSpPr>
        <p:spPr>
          <a:xfrm>
            <a:off x="8595360" y="-2011680"/>
            <a:ext cx="6035040" cy="6035040"/>
          </a:xfrm>
          <a:prstGeom prst="ellipse">
            <a:avLst/>
          </a:prstGeom>
          <a:solidFill>
            <a:srgbClr val="6D28D9">
              <a:alpha val="2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058400" y="3383280"/>
            <a:ext cx="4206240" cy="4206240"/>
          </a:xfrm>
          <a:prstGeom prst="ellipse">
            <a:avLst/>
          </a:prstGeom>
          <a:solidFill>
            <a:srgbClr val="E11D48">
              <a:alpha val="16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A78BF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RED SPEARS LABS  ·  DEVEL GROUP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77240" y="1600200"/>
            <a:ext cx="106070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800"/>
              </a:lnSpc>
              <a:buNone/>
            </a:pPr>
            <a:r>
              <a:rPr lang="en-US" sz="5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INCIDENT RESPONSE,</a:t>
            </a:r>
            <a:endParaRPr lang="en-US" sz="5800" dirty="0"/>
          </a:p>
          <a:p>
            <a:pPr indent="0" marL="0">
              <a:lnSpc>
                <a:spcPts val="5800"/>
              </a:lnSpc>
              <a:buNone/>
            </a:pPr>
            <a:r>
              <a:rPr lang="en-US" sz="5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REWRITTEN BY AI</a:t>
            </a:r>
            <a:endParaRPr lang="en-US" sz="5800" dirty="0"/>
          </a:p>
        </p:txBody>
      </p:sp>
      <p:sp>
        <p:nvSpPr>
          <p:cNvPr id="7" name="Text 5"/>
          <p:cNvSpPr/>
          <p:nvPr/>
        </p:nvSpPr>
        <p:spPr>
          <a:xfrm>
            <a:off x="822960" y="4069080"/>
            <a:ext cx="7680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AI reconstructs the full attack path of a cloud or server breach — from initial entry to lateral movement — and turns containment from days into minutes.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22960" y="5394960"/>
            <a:ext cx="1563624" cy="420624"/>
          </a:xfrm>
          <a:prstGeom prst="roundRect">
            <a:avLst>
              <a:gd name="adj" fmla="val 21739"/>
            </a:avLst>
          </a:prstGeom>
          <a:solidFill>
            <a:srgbClr val="E11D48"/>
          </a:solidFill>
          <a:ln w="12700">
            <a:solidFill>
              <a:srgbClr val="2A234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5394960"/>
            <a:ext cx="1563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spc="15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30-MIN BRIEFING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551176" y="5394960"/>
            <a:ext cx="2423160" cy="420624"/>
          </a:xfrm>
          <a:prstGeom prst="roundRect">
            <a:avLst>
              <a:gd name="adj" fmla="val 21739"/>
            </a:avLst>
          </a:prstGeom>
          <a:solidFill>
            <a:srgbClr val="6D28D9"/>
          </a:solidFill>
          <a:ln w="12700">
            <a:solidFill>
              <a:srgbClr val="2A234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51176" y="5394960"/>
            <a:ext cx="2423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spc="15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LIVE: GITHUB TOOL RELEASE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138928" y="5394960"/>
            <a:ext cx="1993392" cy="420624"/>
          </a:xfrm>
          <a:prstGeom prst="roundRect">
            <a:avLst>
              <a:gd name="adj" fmla="val 21739"/>
            </a:avLst>
          </a:prstGeom>
          <a:solidFill>
            <a:srgbClr val="1A1430"/>
          </a:solidFill>
          <a:ln w="12700">
            <a:solidFill>
              <a:srgbClr val="2A234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38928" y="5394960"/>
            <a:ext cx="19933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spc="15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FOR SECURITY LEADERS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822960" y="610819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8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Camilo Fernández  ·  Founder &amp; CEO, Devel Group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D28D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30 MINUTES · WHAT WE'LL COVER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E0B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roadmap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1874520"/>
            <a:ext cx="11064240" cy="960120"/>
          </a:xfrm>
          <a:prstGeom prst="rect">
            <a:avLst/>
          </a:prstGeom>
          <a:solidFill>
            <a:srgbClr val="F4F2FA"/>
          </a:solidFill>
          <a:ln w="12700">
            <a:solidFill>
              <a:srgbClr val="E3DF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874520"/>
            <a:ext cx="91440" cy="960120"/>
          </a:xfrm>
          <a:prstGeom prst="rect">
            <a:avLst/>
          </a:prstGeom>
          <a:solidFill>
            <a:srgbClr val="6D28D9"/>
          </a:solidFill>
          <a:ln/>
        </p:spPr>
      </p:sp>
      <p:sp>
        <p:nvSpPr>
          <p:cNvPr id="6" name="Shape 4"/>
          <p:cNvSpPr/>
          <p:nvPr/>
        </p:nvSpPr>
        <p:spPr>
          <a:xfrm>
            <a:off x="868680" y="2057400"/>
            <a:ext cx="594360" cy="594360"/>
          </a:xfrm>
          <a:prstGeom prst="roundRect">
            <a:avLst>
              <a:gd name="adj" fmla="val 22000"/>
            </a:avLst>
          </a:prstGeom>
          <a:solidFill>
            <a:srgbClr val="6D28D9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7270" y="2205990"/>
            <a:ext cx="297180" cy="2971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45920" y="1874520"/>
            <a:ext cx="640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3DF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2331720" y="1993392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0B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global shift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2331720" y="2350008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8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incident response is being rebuilt around AI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10378440" y="2167128"/>
            <a:ext cx="96012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378440" y="2167128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D28D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 min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566928" y="2971800"/>
            <a:ext cx="11064240" cy="960120"/>
          </a:xfrm>
          <a:prstGeom prst="rect">
            <a:avLst/>
          </a:prstGeom>
          <a:solidFill>
            <a:srgbClr val="F4F2FA"/>
          </a:solidFill>
          <a:ln w="12700">
            <a:solidFill>
              <a:srgbClr val="E3DFF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66928" y="2971800"/>
            <a:ext cx="91440" cy="960120"/>
          </a:xfrm>
          <a:prstGeom prst="rect">
            <a:avLst/>
          </a:prstGeom>
          <a:solidFill>
            <a:srgbClr val="E11D48"/>
          </a:solidFill>
          <a:ln/>
        </p:spPr>
      </p:sp>
      <p:sp>
        <p:nvSpPr>
          <p:cNvPr id="15" name="Shape 12"/>
          <p:cNvSpPr/>
          <p:nvPr/>
        </p:nvSpPr>
        <p:spPr>
          <a:xfrm>
            <a:off x="868680" y="3154680"/>
            <a:ext cx="594360" cy="594360"/>
          </a:xfrm>
          <a:prstGeom prst="roundRect">
            <a:avLst>
              <a:gd name="adj" fmla="val 22000"/>
            </a:avLst>
          </a:prstGeom>
          <a:solidFill>
            <a:srgbClr val="E11D48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270" y="3303270"/>
            <a:ext cx="297180" cy="29718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645920" y="2971800"/>
            <a:ext cx="640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3DF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200" dirty="0"/>
          </a:p>
        </p:txBody>
      </p:sp>
      <p:sp>
        <p:nvSpPr>
          <p:cNvPr id="18" name="Text 14"/>
          <p:cNvSpPr/>
          <p:nvPr/>
        </p:nvSpPr>
        <p:spPr>
          <a:xfrm>
            <a:off x="2331720" y="3090672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0B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Walking a breach</a:t>
            </a:r>
            <a:endParaRPr lang="en-US" sz="1600" dirty="0"/>
          </a:p>
        </p:txBody>
      </p:sp>
      <p:sp>
        <p:nvSpPr>
          <p:cNvPr id="19" name="Text 15"/>
          <p:cNvSpPr/>
          <p:nvPr/>
        </p:nvSpPr>
        <p:spPr>
          <a:xfrm>
            <a:off x="2331720" y="3447288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8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cloud intrusion, reconstructed step by step</a:t>
            </a:r>
            <a:endParaRPr lang="en-US" sz="1150" dirty="0"/>
          </a:p>
        </p:txBody>
      </p:sp>
      <p:sp>
        <p:nvSpPr>
          <p:cNvPr id="20" name="Shape 16"/>
          <p:cNvSpPr/>
          <p:nvPr/>
        </p:nvSpPr>
        <p:spPr>
          <a:xfrm>
            <a:off x="10378440" y="3264408"/>
            <a:ext cx="96012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10378440" y="3264408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11D4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 min</a:t>
            </a:r>
            <a:endParaRPr lang="en-US" sz="950" dirty="0"/>
          </a:p>
        </p:txBody>
      </p:sp>
      <p:sp>
        <p:nvSpPr>
          <p:cNvPr id="22" name="Shape 18"/>
          <p:cNvSpPr/>
          <p:nvPr/>
        </p:nvSpPr>
        <p:spPr>
          <a:xfrm>
            <a:off x="566928" y="4069080"/>
            <a:ext cx="11064240" cy="960120"/>
          </a:xfrm>
          <a:prstGeom prst="rect">
            <a:avLst/>
          </a:prstGeom>
          <a:solidFill>
            <a:srgbClr val="F4F2FA"/>
          </a:solidFill>
          <a:ln w="12700">
            <a:solidFill>
              <a:srgbClr val="E3DFF0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566928" y="4069080"/>
            <a:ext cx="91440" cy="960120"/>
          </a:xfrm>
          <a:prstGeom prst="rect">
            <a:avLst/>
          </a:prstGeom>
          <a:solidFill>
            <a:srgbClr val="6D28D9"/>
          </a:solidFill>
          <a:ln/>
        </p:spPr>
      </p:sp>
      <p:sp>
        <p:nvSpPr>
          <p:cNvPr id="24" name="Shape 20"/>
          <p:cNvSpPr/>
          <p:nvPr/>
        </p:nvSpPr>
        <p:spPr>
          <a:xfrm>
            <a:off x="868680" y="4251960"/>
            <a:ext cx="594360" cy="594360"/>
          </a:xfrm>
          <a:prstGeom prst="roundRect">
            <a:avLst>
              <a:gd name="adj" fmla="val 22000"/>
            </a:avLst>
          </a:prstGeom>
          <a:solidFill>
            <a:srgbClr val="6D28D9"/>
          </a:solidFill>
          <a:ln/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7270" y="4400550"/>
            <a:ext cx="297180" cy="297180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1645920" y="4069080"/>
            <a:ext cx="640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3DF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200" dirty="0"/>
          </a:p>
        </p:txBody>
      </p:sp>
      <p:sp>
        <p:nvSpPr>
          <p:cNvPr id="27" name="Text 22"/>
          <p:cNvSpPr/>
          <p:nvPr/>
        </p:nvSpPr>
        <p:spPr>
          <a:xfrm>
            <a:off x="2331720" y="4187952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0B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Tools &amp; how-to</a:t>
            </a:r>
            <a:endParaRPr lang="en-US" sz="1600" dirty="0"/>
          </a:p>
        </p:txBody>
      </p:sp>
      <p:sp>
        <p:nvSpPr>
          <p:cNvPr id="28" name="Text 23"/>
          <p:cNvSpPr/>
          <p:nvPr/>
        </p:nvSpPr>
        <p:spPr>
          <a:xfrm>
            <a:off x="2331720" y="4544568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8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AI tools to use, and how to wire them in</a:t>
            </a:r>
            <a:endParaRPr lang="en-US" sz="1150" dirty="0"/>
          </a:p>
        </p:txBody>
      </p:sp>
      <p:sp>
        <p:nvSpPr>
          <p:cNvPr id="29" name="Shape 24"/>
          <p:cNvSpPr/>
          <p:nvPr/>
        </p:nvSpPr>
        <p:spPr>
          <a:xfrm>
            <a:off x="10378440" y="4361688"/>
            <a:ext cx="96012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10378440" y="4361688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D28D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 min</a:t>
            </a:r>
            <a:endParaRPr lang="en-US" sz="950" dirty="0"/>
          </a:p>
        </p:txBody>
      </p:sp>
      <p:sp>
        <p:nvSpPr>
          <p:cNvPr id="31" name="Shape 26"/>
          <p:cNvSpPr/>
          <p:nvPr/>
        </p:nvSpPr>
        <p:spPr>
          <a:xfrm>
            <a:off x="566928" y="5166360"/>
            <a:ext cx="11064240" cy="960120"/>
          </a:xfrm>
          <a:prstGeom prst="rect">
            <a:avLst/>
          </a:prstGeom>
          <a:solidFill>
            <a:srgbClr val="F4F2FA"/>
          </a:solidFill>
          <a:ln w="12700">
            <a:solidFill>
              <a:srgbClr val="E3DFF0"/>
            </a:solidFill>
            <a:prstDash val="solid"/>
          </a:ln>
        </p:spPr>
      </p:sp>
      <p:sp>
        <p:nvSpPr>
          <p:cNvPr id="32" name="Shape 27"/>
          <p:cNvSpPr/>
          <p:nvPr/>
        </p:nvSpPr>
        <p:spPr>
          <a:xfrm>
            <a:off x="566928" y="5166360"/>
            <a:ext cx="91440" cy="960120"/>
          </a:xfrm>
          <a:prstGeom prst="rect">
            <a:avLst/>
          </a:prstGeom>
          <a:solidFill>
            <a:srgbClr val="E11D48"/>
          </a:solidFill>
          <a:ln/>
        </p:spPr>
      </p:sp>
      <p:sp>
        <p:nvSpPr>
          <p:cNvPr id="33" name="Shape 28"/>
          <p:cNvSpPr/>
          <p:nvPr/>
        </p:nvSpPr>
        <p:spPr>
          <a:xfrm>
            <a:off x="868680" y="5349240"/>
            <a:ext cx="594360" cy="594360"/>
          </a:xfrm>
          <a:prstGeom prst="roundRect">
            <a:avLst>
              <a:gd name="adj" fmla="val 22000"/>
            </a:avLst>
          </a:prstGeom>
          <a:solidFill>
            <a:srgbClr val="E11D48"/>
          </a:solidFill>
          <a:ln/>
        </p:spPr>
      </p:sp>
      <p:pic>
        <p:nvPicPr>
          <p:cNvPr id="3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7270" y="5497830"/>
            <a:ext cx="297180" cy="297180"/>
          </a:xfrm>
          <a:prstGeom prst="rect">
            <a:avLst/>
          </a:prstGeom>
        </p:spPr>
      </p:pic>
      <p:sp>
        <p:nvSpPr>
          <p:cNvPr id="35" name="Text 29"/>
          <p:cNvSpPr/>
          <p:nvPr/>
        </p:nvSpPr>
        <p:spPr>
          <a:xfrm>
            <a:off x="1645920" y="5166360"/>
            <a:ext cx="640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3DF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2200" dirty="0"/>
          </a:p>
        </p:txBody>
      </p:sp>
      <p:sp>
        <p:nvSpPr>
          <p:cNvPr id="36" name="Text 30"/>
          <p:cNvSpPr/>
          <p:nvPr/>
        </p:nvSpPr>
        <p:spPr>
          <a:xfrm>
            <a:off x="2331720" y="5285232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0B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GitHub release</a:t>
            </a:r>
            <a:endParaRPr lang="en-US" sz="1600" dirty="0"/>
          </a:p>
        </p:txBody>
      </p:sp>
      <p:sp>
        <p:nvSpPr>
          <p:cNvPr id="37" name="Text 31"/>
          <p:cNvSpPr/>
          <p:nvPr/>
        </p:nvSpPr>
        <p:spPr>
          <a:xfrm>
            <a:off x="2331720" y="5641848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8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Open-sourcing our AI analytics toolkit — live</a:t>
            </a:r>
            <a:endParaRPr lang="en-US" sz="1150" dirty="0"/>
          </a:p>
        </p:txBody>
      </p:sp>
      <p:sp>
        <p:nvSpPr>
          <p:cNvPr id="38" name="Shape 32"/>
          <p:cNvSpPr/>
          <p:nvPr/>
        </p:nvSpPr>
        <p:spPr>
          <a:xfrm>
            <a:off x="10378440" y="5458968"/>
            <a:ext cx="96012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39" name="Text 33"/>
          <p:cNvSpPr/>
          <p:nvPr/>
        </p:nvSpPr>
        <p:spPr>
          <a:xfrm>
            <a:off x="10378440" y="5458968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11D4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 min</a:t>
            </a:r>
            <a:endParaRPr lang="en-US" sz="950" dirty="0"/>
          </a:p>
        </p:txBody>
      </p:sp>
      <p:sp>
        <p:nvSpPr>
          <p:cNvPr id="40" name="Text 34"/>
          <p:cNvSpPr/>
          <p:nvPr/>
        </p:nvSpPr>
        <p:spPr>
          <a:xfrm>
            <a:off x="1123157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84A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100" dirty="0"/>
          </a:p>
        </p:txBody>
      </p:sp>
      <p:sp>
        <p:nvSpPr>
          <p:cNvPr id="41" name="Text 35"/>
          <p:cNvSpPr/>
          <p:nvPr/>
        </p:nvSpPr>
        <p:spPr>
          <a:xfrm>
            <a:off x="548640" y="6355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8B8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 GROUP  ·  RED SPEARS LABS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D28D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WHY THIS MATTERS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0E0B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clock has always been the enemy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66928" y="155448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8B8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Traditional incident response is a manual race against an automated adversary. By the time analysts piece the story together, the attacker is long gone.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66928" y="2514600"/>
            <a:ext cx="3611880" cy="2743200"/>
          </a:xfrm>
          <a:prstGeom prst="rect">
            <a:avLst/>
          </a:prstGeom>
          <a:solidFill>
            <a:srgbClr val="F4F2FA"/>
          </a:solidFill>
          <a:ln w="12700">
            <a:solidFill>
              <a:srgbClr val="E3DF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2514600"/>
            <a:ext cx="3611880" cy="91440"/>
          </a:xfrm>
          <a:prstGeom prst="rect">
            <a:avLst/>
          </a:prstGeom>
          <a:solidFill>
            <a:srgbClr val="E11D48"/>
          </a:solidFill>
          <a:ln/>
        </p:spPr>
      </p:sp>
      <p:sp>
        <p:nvSpPr>
          <p:cNvPr id="7" name="Text 5"/>
          <p:cNvSpPr/>
          <p:nvPr/>
        </p:nvSpPr>
        <p:spPr>
          <a:xfrm>
            <a:off x="612648" y="2724912"/>
            <a:ext cx="3520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0" b="1" dirty="0">
                <a:solidFill>
                  <a:srgbClr val="E11D4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204</a:t>
            </a:r>
            <a:endParaRPr lang="en-US" sz="5800" dirty="0"/>
          </a:p>
        </p:txBody>
      </p:sp>
      <p:sp>
        <p:nvSpPr>
          <p:cNvPr id="8" name="Text 6"/>
          <p:cNvSpPr/>
          <p:nvPr/>
        </p:nvSpPr>
        <p:spPr>
          <a:xfrm>
            <a:off x="612648" y="3822192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spc="300" kern="0" dirty="0">
                <a:solidFill>
                  <a:srgbClr val="0E0B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DAYS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32688" y="4206240"/>
            <a:ext cx="2880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8B8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time to identify a breach before containment even begins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453128" y="2514600"/>
            <a:ext cx="3611880" cy="2743200"/>
          </a:xfrm>
          <a:prstGeom prst="rect">
            <a:avLst/>
          </a:prstGeom>
          <a:solidFill>
            <a:srgbClr val="F4F2FA"/>
          </a:solidFill>
          <a:ln w="12700">
            <a:solidFill>
              <a:srgbClr val="E3DF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53128" y="2514600"/>
            <a:ext cx="3611880" cy="91440"/>
          </a:xfrm>
          <a:prstGeom prst="rect">
            <a:avLst/>
          </a:prstGeom>
          <a:solidFill>
            <a:srgbClr val="6D28D9"/>
          </a:solidFill>
          <a:ln/>
        </p:spPr>
      </p:sp>
      <p:sp>
        <p:nvSpPr>
          <p:cNvPr id="12" name="Text 10"/>
          <p:cNvSpPr/>
          <p:nvPr/>
        </p:nvSpPr>
        <p:spPr>
          <a:xfrm>
            <a:off x="4498848" y="2724912"/>
            <a:ext cx="3520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0" b="1" dirty="0">
                <a:solidFill>
                  <a:srgbClr val="6D28D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73</a:t>
            </a:r>
            <a:endParaRPr lang="en-US" sz="5800" dirty="0"/>
          </a:p>
        </p:txBody>
      </p:sp>
      <p:sp>
        <p:nvSpPr>
          <p:cNvPr id="13" name="Text 11"/>
          <p:cNvSpPr/>
          <p:nvPr/>
        </p:nvSpPr>
        <p:spPr>
          <a:xfrm>
            <a:off x="4498848" y="3822192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spc="300" kern="0" dirty="0">
                <a:solidFill>
                  <a:srgbClr val="0E0B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HOURS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18888" y="4206240"/>
            <a:ext cx="2880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8B8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analyst effort to manually reconstruct one cloud intrusion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339328" y="2514600"/>
            <a:ext cx="3611880" cy="2743200"/>
          </a:xfrm>
          <a:prstGeom prst="rect">
            <a:avLst/>
          </a:prstGeom>
          <a:solidFill>
            <a:srgbClr val="F4F2FA"/>
          </a:solidFill>
          <a:ln w="12700">
            <a:solidFill>
              <a:srgbClr val="E3DF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339328" y="2514600"/>
            <a:ext cx="3611880" cy="914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7" name="Text 15"/>
          <p:cNvSpPr/>
          <p:nvPr/>
        </p:nvSpPr>
        <p:spPr>
          <a:xfrm>
            <a:off x="8385048" y="2724912"/>
            <a:ext cx="3520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80%</a:t>
            </a:r>
            <a:endParaRPr lang="en-US" sz="5800" dirty="0"/>
          </a:p>
        </p:txBody>
      </p:sp>
      <p:sp>
        <p:nvSpPr>
          <p:cNvPr id="18" name="Text 16"/>
          <p:cNvSpPr/>
          <p:nvPr/>
        </p:nvSpPr>
        <p:spPr>
          <a:xfrm>
            <a:off x="8385048" y="3822192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spc="300" kern="0" dirty="0">
                <a:solidFill>
                  <a:srgbClr val="0E0B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OF TIME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705088" y="4206240"/>
            <a:ext cx="2880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8B8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spent collecting &amp; correlating logs — not actually responding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66928" y="55321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0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asymmetry:  </a:t>
            </a:r>
            <a:pPr indent="0" marL="0">
              <a:buNone/>
            </a:pPr>
            <a:r>
              <a:rPr lang="en-US" sz="1300" dirty="0">
                <a:solidFill>
                  <a:srgbClr val="8B8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attackers automate. Defenders still investigate by hand.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123157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84A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48640" y="6355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8B8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 GROUP  ·  RED SPEARS LABS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0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78BF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GLOBAL SHIFT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From forensics to foresight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828800"/>
            <a:ext cx="5349240" cy="4160520"/>
          </a:xfrm>
          <a:prstGeom prst="rect">
            <a:avLst/>
          </a:prstGeom>
          <a:solidFill>
            <a:srgbClr val="1A1430"/>
          </a:solidFill>
          <a:ln w="12700">
            <a:solidFill>
              <a:srgbClr val="2A234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828800"/>
            <a:ext cx="5349240" cy="566928"/>
          </a:xfrm>
          <a:prstGeom prst="rect">
            <a:avLst/>
          </a:prstGeom>
          <a:solidFill>
            <a:srgbClr val="2A2348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828800"/>
            <a:ext cx="4983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FB718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YESTERDAY  ·  MANUAL IR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2633472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B718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—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43000" y="2633472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C9C4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Analysts hand-pull logs from every console and SIEM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329184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B718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—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43000" y="3291840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C9C4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Timeline assembled in spreadsheets, days after the fact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22960" y="3950208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B718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—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43000" y="3950208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C9C4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Root cause is a hypothesis, rarely a proven path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22960" y="4608576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B718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—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43000" y="4608576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C9C4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Containment waits for human consensus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22960" y="5266944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B718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—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43000" y="5266944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C9C4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dies in a PDF nobody re-reads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797296" y="3657600"/>
            <a:ext cx="603504" cy="603504"/>
          </a:xfrm>
          <a:prstGeom prst="ellipse">
            <a:avLst/>
          </a:prstGeom>
          <a:solidFill>
            <a:srgbClr val="E11D48"/>
          </a:solidFill>
          <a:ln/>
        </p:spPr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0" y="3803904"/>
            <a:ext cx="310896" cy="310896"/>
          </a:xfrm>
          <a:prstGeom prst="rect">
            <a:avLst/>
          </a:prstGeom>
        </p:spPr>
      </p:pic>
      <p:sp>
        <p:nvSpPr>
          <p:cNvPr id="19" name="Shape 16"/>
          <p:cNvSpPr/>
          <p:nvPr/>
        </p:nvSpPr>
        <p:spPr>
          <a:xfrm>
            <a:off x="6419088" y="1828800"/>
            <a:ext cx="5349240" cy="4160520"/>
          </a:xfrm>
          <a:prstGeom prst="rect">
            <a:avLst/>
          </a:prstGeom>
          <a:solidFill>
            <a:srgbClr val="6D28D9"/>
          </a:solidFill>
          <a:ln/>
        </p:spPr>
      </p:sp>
      <p:sp>
        <p:nvSpPr>
          <p:cNvPr id="20" name="Shape 17"/>
          <p:cNvSpPr/>
          <p:nvPr/>
        </p:nvSpPr>
        <p:spPr>
          <a:xfrm>
            <a:off x="6419088" y="1828800"/>
            <a:ext cx="5349240" cy="566928"/>
          </a:xfrm>
          <a:prstGeom prst="rect">
            <a:avLst/>
          </a:prstGeom>
          <a:solidFill>
            <a:srgbClr val="5B21B6"/>
          </a:solidFill>
          <a:ln/>
        </p:spPr>
      </p:sp>
      <p:sp>
        <p:nvSpPr>
          <p:cNvPr id="21" name="Text 18"/>
          <p:cNvSpPr/>
          <p:nvPr/>
        </p:nvSpPr>
        <p:spPr>
          <a:xfrm>
            <a:off x="6629400" y="1828800"/>
            <a:ext cx="4983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TODAY  ·  AI-DRIVEN IR</a:t>
            </a:r>
            <a:endParaRPr lang="en-US" sz="1200" dirty="0"/>
          </a:p>
        </p:txBody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6832" y="2651760"/>
            <a:ext cx="237744" cy="237744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7022592" y="2633472"/>
            <a:ext cx="4480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 ingest cloud, identity &amp; endpoint telemetry in seconds</a:t>
            </a:r>
            <a:endParaRPr lang="en-US" sz="1200" dirty="0"/>
          </a:p>
        </p:txBody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6832" y="3310128"/>
            <a:ext cx="237744" cy="237744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7022592" y="3291840"/>
            <a:ext cx="4480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Attack path reconstructed automatically as a causal graph</a:t>
            </a:r>
            <a:endParaRPr lang="en-US" sz="1200" dirty="0"/>
          </a:p>
        </p:txBody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6832" y="3968496"/>
            <a:ext cx="237744" cy="237744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7022592" y="3950208"/>
            <a:ext cx="4480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Root cause is a proven chain of evidence, not a guess</a:t>
            </a:r>
            <a:endParaRPr lang="en-US" sz="1200" dirty="0"/>
          </a:p>
        </p:txBody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56832" y="4626864"/>
            <a:ext cx="237744" cy="237744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7022592" y="4608576"/>
            <a:ext cx="4480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Containment actions proposed — and pre-staged — instantly</a:t>
            </a:r>
            <a:endParaRPr lang="en-US" sz="1200" dirty="0"/>
          </a:p>
        </p:txBody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56832" y="5285232"/>
            <a:ext cx="237744" cy="237744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7022592" y="5266944"/>
            <a:ext cx="4480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incident becomes reusable, queryable knowledge</a:t>
            </a:r>
            <a:endParaRPr lang="en-US" sz="1200" dirty="0"/>
          </a:p>
        </p:txBody>
      </p:sp>
      <p:sp>
        <p:nvSpPr>
          <p:cNvPr id="32" name="Text 24"/>
          <p:cNvSpPr/>
          <p:nvPr/>
        </p:nvSpPr>
        <p:spPr>
          <a:xfrm>
            <a:off x="1123157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84A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100" dirty="0"/>
          </a:p>
        </p:txBody>
      </p:sp>
      <p:sp>
        <p:nvSpPr>
          <p:cNvPr id="33" name="Text 25"/>
          <p:cNvSpPr/>
          <p:nvPr/>
        </p:nvSpPr>
        <p:spPr>
          <a:xfrm>
            <a:off x="548640" y="6355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8B8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 GROUP  ·  RED SPEARS LABS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D28D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CAPABILITY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E0B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Four things AI does that humans can't do fast enough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1874520"/>
            <a:ext cx="269748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FF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66928" y="1874520"/>
            <a:ext cx="2697480" cy="91440"/>
          </a:xfrm>
          <a:prstGeom prst="rect">
            <a:avLst/>
          </a:prstGeom>
          <a:solidFill>
            <a:srgbClr val="6D28D9"/>
          </a:solidFill>
          <a:ln/>
        </p:spPr>
      </p:sp>
      <p:sp>
        <p:nvSpPr>
          <p:cNvPr id="6" name="Shape 4"/>
          <p:cNvSpPr/>
          <p:nvPr/>
        </p:nvSpPr>
        <p:spPr>
          <a:xfrm>
            <a:off x="886968" y="2258568"/>
            <a:ext cx="868680" cy="868680"/>
          </a:xfrm>
          <a:prstGeom prst="roundRect">
            <a:avLst>
              <a:gd name="adj" fmla="val 22000"/>
            </a:avLst>
          </a:prstGeom>
          <a:solidFill>
            <a:srgbClr val="6D28D9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138" y="2475738"/>
            <a:ext cx="434340" cy="4343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86968" y="3291840"/>
            <a:ext cx="2057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600" b="1" dirty="0">
                <a:solidFill>
                  <a:srgbClr val="0E0B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Correlate at scale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86968" y="4114800"/>
            <a:ext cx="2057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8B8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Reads millions of log lines across cloud, identity and endpoint sources — surfaces the 12 that matter.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429000" y="1874520"/>
            <a:ext cx="269748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FF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429000" y="1874520"/>
            <a:ext cx="2697480" cy="91440"/>
          </a:xfrm>
          <a:prstGeom prst="rect">
            <a:avLst/>
          </a:prstGeom>
          <a:solidFill>
            <a:srgbClr val="E11D48"/>
          </a:solidFill>
          <a:ln/>
        </p:spPr>
      </p:sp>
      <p:sp>
        <p:nvSpPr>
          <p:cNvPr id="12" name="Shape 9"/>
          <p:cNvSpPr/>
          <p:nvPr/>
        </p:nvSpPr>
        <p:spPr>
          <a:xfrm>
            <a:off x="3749040" y="2258568"/>
            <a:ext cx="868680" cy="868680"/>
          </a:xfrm>
          <a:prstGeom prst="roundRect">
            <a:avLst>
              <a:gd name="adj" fmla="val 22000"/>
            </a:avLst>
          </a:prstGeom>
          <a:solidFill>
            <a:srgbClr val="E11D48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6210" y="2475738"/>
            <a:ext cx="434340" cy="43434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749040" y="3291840"/>
            <a:ext cx="2057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600" b="1" dirty="0">
                <a:solidFill>
                  <a:srgbClr val="0E0B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Reconstruct the path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749040" y="4114800"/>
            <a:ext cx="2057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8B8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Links events into a causal attack graph: entry → escalation → lateral move → objective.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6291072" y="1874520"/>
            <a:ext cx="269748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FF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291072" y="1874520"/>
            <a:ext cx="2697480" cy="91440"/>
          </a:xfrm>
          <a:prstGeom prst="rect">
            <a:avLst/>
          </a:prstGeom>
          <a:solidFill>
            <a:srgbClr val="6D28D9"/>
          </a:solidFill>
          <a:ln/>
        </p:spPr>
      </p:sp>
      <p:sp>
        <p:nvSpPr>
          <p:cNvPr id="18" name="Shape 14"/>
          <p:cNvSpPr/>
          <p:nvPr/>
        </p:nvSpPr>
        <p:spPr>
          <a:xfrm>
            <a:off x="6611112" y="2258568"/>
            <a:ext cx="868680" cy="868680"/>
          </a:xfrm>
          <a:prstGeom prst="roundRect">
            <a:avLst>
              <a:gd name="adj" fmla="val 22000"/>
            </a:avLst>
          </a:prstGeom>
          <a:solidFill>
            <a:srgbClr val="6D28D9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8282" y="2475738"/>
            <a:ext cx="434340" cy="43434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611112" y="3291840"/>
            <a:ext cx="2057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600" b="1" dirty="0">
                <a:solidFill>
                  <a:srgbClr val="0E0B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Explain the intent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611112" y="4114800"/>
            <a:ext cx="2057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8B8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Turns raw IOCs into a human narrative — what the attacker wanted, and why.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9153144" y="1874520"/>
            <a:ext cx="269748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FF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0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9153144" y="1874520"/>
            <a:ext cx="2697480" cy="91440"/>
          </a:xfrm>
          <a:prstGeom prst="rect">
            <a:avLst/>
          </a:prstGeom>
          <a:solidFill>
            <a:srgbClr val="E11D48"/>
          </a:solidFill>
          <a:ln/>
        </p:spPr>
      </p:sp>
      <p:sp>
        <p:nvSpPr>
          <p:cNvPr id="24" name="Shape 19"/>
          <p:cNvSpPr/>
          <p:nvPr/>
        </p:nvSpPr>
        <p:spPr>
          <a:xfrm>
            <a:off x="9473184" y="2258568"/>
            <a:ext cx="868680" cy="868680"/>
          </a:xfrm>
          <a:prstGeom prst="roundRect">
            <a:avLst>
              <a:gd name="adj" fmla="val 22000"/>
            </a:avLst>
          </a:prstGeom>
          <a:solidFill>
            <a:srgbClr val="E11D48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90354" y="2475738"/>
            <a:ext cx="434340" cy="43434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9473184" y="3291840"/>
            <a:ext cx="2057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600" b="1" dirty="0">
                <a:solidFill>
                  <a:srgbClr val="0E0B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Pre-stage the response</a:t>
            </a:r>
            <a:endParaRPr lang="en-US" sz="1600" dirty="0"/>
          </a:p>
        </p:txBody>
      </p:sp>
      <p:sp>
        <p:nvSpPr>
          <p:cNvPr id="27" name="Text 21"/>
          <p:cNvSpPr/>
          <p:nvPr/>
        </p:nvSpPr>
        <p:spPr>
          <a:xfrm>
            <a:off x="9473184" y="4114800"/>
            <a:ext cx="2057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8B8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Generates the exact containment actions and the commands to execute them.</a:t>
            </a:r>
            <a:endParaRPr lang="en-US" sz="1200" dirty="0"/>
          </a:p>
        </p:txBody>
      </p:sp>
      <p:sp>
        <p:nvSpPr>
          <p:cNvPr id="28" name="Text 22"/>
          <p:cNvSpPr/>
          <p:nvPr/>
        </p:nvSpPr>
        <p:spPr>
          <a:xfrm>
            <a:off x="1123157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84A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1100" dirty="0"/>
          </a:p>
        </p:txBody>
      </p:sp>
      <p:sp>
        <p:nvSpPr>
          <p:cNvPr id="29" name="Text 23"/>
          <p:cNvSpPr/>
          <p:nvPr/>
        </p:nvSpPr>
        <p:spPr>
          <a:xfrm>
            <a:off x="548640" y="6355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8B8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 GROUP  ·  RED SPEARS LABS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E11D48"/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2926080"/>
            <a:ext cx="5669280" cy="5669280"/>
          </a:xfrm>
          <a:prstGeom prst="ellipse">
            <a:avLst/>
          </a:prstGeom>
          <a:solidFill>
            <a:srgbClr val="6D28D9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21031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FB718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PART 01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68680" y="2560320"/>
            <a:ext cx="98755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2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 breach in the cloud — walked end to end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914400" y="4251960"/>
            <a:ext cx="8778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follow one real intrusion pattern: a leaked key in a public bucket. AI reconstructs every step the attacker took — and shows us exactly how to slam the door.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23157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84A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6355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8B8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 GROUP  ·  RED SPEARS LABS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D28D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RECONSTRUCTED ATTACK PATH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9552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0B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From one leaked key to full data exfiltration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66928" y="13716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builds this graph automatically from telemetry — each node is a proven event, each arrow a causal link.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66928" y="2057400"/>
            <a:ext cx="1700784" cy="2606040"/>
          </a:xfrm>
          <a:prstGeom prst="rect">
            <a:avLst/>
          </a:prstGeom>
          <a:solidFill>
            <a:srgbClr val="F4F2FA"/>
          </a:solidFill>
          <a:ln w="12700">
            <a:solidFill>
              <a:srgbClr val="E3DF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2057400"/>
            <a:ext cx="1700784" cy="73152"/>
          </a:xfrm>
          <a:prstGeom prst="rect">
            <a:avLst/>
          </a:prstGeom>
          <a:solidFill>
            <a:srgbClr val="E11D48"/>
          </a:solidFill>
          <a:ln/>
        </p:spPr>
      </p:sp>
      <p:sp>
        <p:nvSpPr>
          <p:cNvPr id="7" name="Shape 5"/>
          <p:cNvSpPr/>
          <p:nvPr/>
        </p:nvSpPr>
        <p:spPr>
          <a:xfrm>
            <a:off x="1106424" y="2286000"/>
            <a:ext cx="621792" cy="621792"/>
          </a:xfrm>
          <a:prstGeom prst="roundRect">
            <a:avLst>
              <a:gd name="adj" fmla="val 22000"/>
            </a:avLst>
          </a:prstGeom>
          <a:solidFill>
            <a:srgbClr val="E11D48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61872" y="2441448"/>
            <a:ext cx="310896" cy="31089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66928" y="2971800"/>
            <a:ext cx="17007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E11D4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STEP 1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621792" y="3191256"/>
            <a:ext cx="1591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1000" b="1" dirty="0">
                <a:solidFill>
                  <a:srgbClr val="0E0B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INITIAL ACCESS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658368" y="3630168"/>
            <a:ext cx="15179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8B8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Leaked IAM key found in a public repo</a:t>
            </a:r>
            <a:endParaRPr lang="en-US" sz="900" dirty="0"/>
          </a:p>
        </p:txBody>
      </p:sp>
      <p:pic>
        <p:nvPicPr>
          <p:cNvPr id="12" name="Image 1" descr="t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4288" y="3291840"/>
            <a:ext cx="128016" cy="13716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2468880" y="2057400"/>
            <a:ext cx="1700784" cy="2606040"/>
          </a:xfrm>
          <a:prstGeom prst="rect">
            <a:avLst/>
          </a:prstGeom>
          <a:solidFill>
            <a:srgbClr val="F4F2FA"/>
          </a:solidFill>
          <a:ln w="12700">
            <a:solidFill>
              <a:srgbClr val="E3DFF0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2468880" y="2057400"/>
            <a:ext cx="1700784" cy="73152"/>
          </a:xfrm>
          <a:prstGeom prst="rect">
            <a:avLst/>
          </a:prstGeom>
          <a:solidFill>
            <a:srgbClr val="E11D48"/>
          </a:solidFill>
          <a:ln/>
        </p:spPr>
      </p:sp>
      <p:sp>
        <p:nvSpPr>
          <p:cNvPr id="15" name="Shape 11"/>
          <p:cNvSpPr/>
          <p:nvPr/>
        </p:nvSpPr>
        <p:spPr>
          <a:xfrm>
            <a:off x="3008376" y="2286000"/>
            <a:ext cx="621792" cy="621792"/>
          </a:xfrm>
          <a:prstGeom prst="roundRect">
            <a:avLst>
              <a:gd name="adj" fmla="val 22000"/>
            </a:avLst>
          </a:prstGeom>
          <a:solidFill>
            <a:srgbClr val="E11D48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63824" y="2441448"/>
            <a:ext cx="310896" cy="31089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2468880" y="2971800"/>
            <a:ext cx="17007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E11D4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STEP 2</a:t>
            </a:r>
            <a:endParaRPr lang="en-US" sz="800" dirty="0"/>
          </a:p>
        </p:txBody>
      </p:sp>
      <p:sp>
        <p:nvSpPr>
          <p:cNvPr id="18" name="Text 13"/>
          <p:cNvSpPr/>
          <p:nvPr/>
        </p:nvSpPr>
        <p:spPr>
          <a:xfrm>
            <a:off x="2523744" y="3191256"/>
            <a:ext cx="1591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1000" b="1" dirty="0">
                <a:solidFill>
                  <a:srgbClr val="0E0B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CREDENTIAL USE</a:t>
            </a:r>
            <a:endParaRPr lang="en-US" sz="1000" dirty="0"/>
          </a:p>
        </p:txBody>
      </p:sp>
      <p:sp>
        <p:nvSpPr>
          <p:cNvPr id="19" name="Text 14"/>
          <p:cNvSpPr/>
          <p:nvPr/>
        </p:nvSpPr>
        <p:spPr>
          <a:xfrm>
            <a:off x="2560320" y="3630168"/>
            <a:ext cx="15179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8B8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authenticates from a brand-new ASN</a:t>
            </a:r>
            <a:endParaRPr lang="en-US" sz="900" dirty="0"/>
          </a:p>
        </p:txBody>
      </p:sp>
      <p:pic>
        <p:nvPicPr>
          <p:cNvPr id="20" name="Image 3" descr="to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6240" y="3291840"/>
            <a:ext cx="128016" cy="137160"/>
          </a:xfrm>
          <a:prstGeom prst="rect">
            <a:avLst/>
          </a:prstGeom>
        </p:spPr>
      </p:pic>
      <p:sp>
        <p:nvSpPr>
          <p:cNvPr id="21" name="Shape 15"/>
          <p:cNvSpPr/>
          <p:nvPr/>
        </p:nvSpPr>
        <p:spPr>
          <a:xfrm>
            <a:off x="4370832" y="2057400"/>
            <a:ext cx="1700784" cy="2606040"/>
          </a:xfrm>
          <a:prstGeom prst="rect">
            <a:avLst/>
          </a:prstGeom>
          <a:solidFill>
            <a:srgbClr val="F4F2FA"/>
          </a:solidFill>
          <a:ln w="12700">
            <a:solidFill>
              <a:srgbClr val="E3DFF0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4370832" y="2057400"/>
            <a:ext cx="1700784" cy="731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3" name="Shape 17"/>
          <p:cNvSpPr/>
          <p:nvPr/>
        </p:nvSpPr>
        <p:spPr>
          <a:xfrm>
            <a:off x="4910328" y="2286000"/>
            <a:ext cx="621792" cy="621792"/>
          </a:xfrm>
          <a:prstGeom prst="roundRect">
            <a:avLst>
              <a:gd name="adj" fmla="val 22000"/>
            </a:avLst>
          </a:prstGeom>
          <a:solidFill>
            <a:srgbClr val="F59E0B"/>
          </a:solidFill>
          <a:ln/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65776" y="2441448"/>
            <a:ext cx="310896" cy="310896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4370832" y="2971800"/>
            <a:ext cx="17007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STEP 3</a:t>
            </a:r>
            <a:endParaRPr lang="en-US" sz="800" dirty="0"/>
          </a:p>
        </p:txBody>
      </p:sp>
      <p:sp>
        <p:nvSpPr>
          <p:cNvPr id="26" name="Text 19"/>
          <p:cNvSpPr/>
          <p:nvPr/>
        </p:nvSpPr>
        <p:spPr>
          <a:xfrm>
            <a:off x="4425696" y="3191256"/>
            <a:ext cx="1591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1000" b="1" dirty="0">
                <a:solidFill>
                  <a:srgbClr val="0E0B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PRIVILEGE ESC.</a:t>
            </a:r>
            <a:endParaRPr lang="en-US" sz="1000" dirty="0"/>
          </a:p>
        </p:txBody>
      </p:sp>
      <p:sp>
        <p:nvSpPr>
          <p:cNvPr id="27" name="Text 20"/>
          <p:cNvSpPr/>
          <p:nvPr/>
        </p:nvSpPr>
        <p:spPr>
          <a:xfrm>
            <a:off x="4462272" y="3630168"/>
            <a:ext cx="15179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8B8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Over-permissive role grants admin scope</a:t>
            </a:r>
            <a:endParaRPr lang="en-US" sz="900" dirty="0"/>
          </a:p>
        </p:txBody>
      </p:sp>
      <p:pic>
        <p:nvPicPr>
          <p:cNvPr id="28" name="Image 5" descr="to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08192" y="3291840"/>
            <a:ext cx="128016" cy="137160"/>
          </a:xfrm>
          <a:prstGeom prst="rect">
            <a:avLst/>
          </a:prstGeom>
        </p:spPr>
      </p:pic>
      <p:sp>
        <p:nvSpPr>
          <p:cNvPr id="29" name="Shape 21"/>
          <p:cNvSpPr/>
          <p:nvPr/>
        </p:nvSpPr>
        <p:spPr>
          <a:xfrm>
            <a:off x="6272784" y="2057400"/>
            <a:ext cx="1700784" cy="2606040"/>
          </a:xfrm>
          <a:prstGeom prst="rect">
            <a:avLst/>
          </a:prstGeom>
          <a:solidFill>
            <a:srgbClr val="F4F2FA"/>
          </a:solidFill>
          <a:ln w="12700">
            <a:solidFill>
              <a:srgbClr val="E3DFF0"/>
            </a:solidFill>
            <a:prstDash val="solid"/>
          </a:ln>
        </p:spPr>
      </p:sp>
      <p:sp>
        <p:nvSpPr>
          <p:cNvPr id="30" name="Shape 22"/>
          <p:cNvSpPr/>
          <p:nvPr/>
        </p:nvSpPr>
        <p:spPr>
          <a:xfrm>
            <a:off x="6272784" y="2057400"/>
            <a:ext cx="1700784" cy="731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1" name="Shape 23"/>
          <p:cNvSpPr/>
          <p:nvPr/>
        </p:nvSpPr>
        <p:spPr>
          <a:xfrm>
            <a:off x="6812280" y="2286000"/>
            <a:ext cx="621792" cy="621792"/>
          </a:xfrm>
          <a:prstGeom prst="roundRect">
            <a:avLst>
              <a:gd name="adj" fmla="val 22000"/>
            </a:avLst>
          </a:prstGeom>
          <a:solidFill>
            <a:srgbClr val="F59E0B"/>
          </a:solidFill>
          <a:ln/>
        </p:spPr>
      </p:sp>
      <p:pic>
        <p:nvPicPr>
          <p:cNvPr id="3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67728" y="2441448"/>
            <a:ext cx="310896" cy="310896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6272784" y="2971800"/>
            <a:ext cx="17007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STEP 4</a:t>
            </a:r>
            <a:endParaRPr lang="en-US" sz="800" dirty="0"/>
          </a:p>
        </p:txBody>
      </p:sp>
      <p:sp>
        <p:nvSpPr>
          <p:cNvPr id="34" name="Text 25"/>
          <p:cNvSpPr/>
          <p:nvPr/>
        </p:nvSpPr>
        <p:spPr>
          <a:xfrm>
            <a:off x="6327648" y="3191256"/>
            <a:ext cx="1591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1000" b="1" dirty="0">
                <a:solidFill>
                  <a:srgbClr val="0E0B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LATERAL MOVE</a:t>
            </a:r>
            <a:endParaRPr lang="en-US" sz="1000" dirty="0"/>
          </a:p>
        </p:txBody>
      </p:sp>
      <p:sp>
        <p:nvSpPr>
          <p:cNvPr id="35" name="Text 26"/>
          <p:cNvSpPr/>
          <p:nvPr/>
        </p:nvSpPr>
        <p:spPr>
          <a:xfrm>
            <a:off x="6364224" y="3630168"/>
            <a:ext cx="15179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8B8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Pivots into compute &amp; database subnets</a:t>
            </a:r>
            <a:endParaRPr lang="en-US" sz="900" dirty="0"/>
          </a:p>
        </p:txBody>
      </p:sp>
      <p:pic>
        <p:nvPicPr>
          <p:cNvPr id="36" name="Image 7" descr="to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10144" y="3291840"/>
            <a:ext cx="128016" cy="137160"/>
          </a:xfrm>
          <a:prstGeom prst="rect">
            <a:avLst/>
          </a:prstGeom>
        </p:spPr>
      </p:pic>
      <p:sp>
        <p:nvSpPr>
          <p:cNvPr id="37" name="Shape 27"/>
          <p:cNvSpPr/>
          <p:nvPr/>
        </p:nvSpPr>
        <p:spPr>
          <a:xfrm>
            <a:off x="8174736" y="2057400"/>
            <a:ext cx="1700784" cy="2606040"/>
          </a:xfrm>
          <a:prstGeom prst="rect">
            <a:avLst/>
          </a:prstGeom>
          <a:solidFill>
            <a:srgbClr val="F4F2FA"/>
          </a:solidFill>
          <a:ln w="12700">
            <a:solidFill>
              <a:srgbClr val="E3DFF0"/>
            </a:solidFill>
            <a:prstDash val="solid"/>
          </a:ln>
        </p:spPr>
      </p:sp>
      <p:sp>
        <p:nvSpPr>
          <p:cNvPr id="38" name="Shape 28"/>
          <p:cNvSpPr/>
          <p:nvPr/>
        </p:nvSpPr>
        <p:spPr>
          <a:xfrm>
            <a:off x="8174736" y="2057400"/>
            <a:ext cx="1700784" cy="73152"/>
          </a:xfrm>
          <a:prstGeom prst="rect">
            <a:avLst/>
          </a:prstGeom>
          <a:solidFill>
            <a:srgbClr val="6D28D9"/>
          </a:solidFill>
          <a:ln/>
        </p:spPr>
      </p:sp>
      <p:sp>
        <p:nvSpPr>
          <p:cNvPr id="39" name="Shape 29"/>
          <p:cNvSpPr/>
          <p:nvPr/>
        </p:nvSpPr>
        <p:spPr>
          <a:xfrm>
            <a:off x="8714232" y="2286000"/>
            <a:ext cx="621792" cy="621792"/>
          </a:xfrm>
          <a:prstGeom prst="roundRect">
            <a:avLst>
              <a:gd name="adj" fmla="val 22000"/>
            </a:avLst>
          </a:prstGeom>
          <a:solidFill>
            <a:srgbClr val="6D28D9"/>
          </a:solidFill>
          <a:ln/>
        </p:spPr>
      </p:sp>
      <p:pic>
        <p:nvPicPr>
          <p:cNvPr id="4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869680" y="2441448"/>
            <a:ext cx="310896" cy="310896"/>
          </a:xfrm>
          <a:prstGeom prst="rect">
            <a:avLst/>
          </a:prstGeom>
        </p:spPr>
      </p:pic>
      <p:sp>
        <p:nvSpPr>
          <p:cNvPr id="41" name="Text 30"/>
          <p:cNvSpPr/>
          <p:nvPr/>
        </p:nvSpPr>
        <p:spPr>
          <a:xfrm>
            <a:off x="8174736" y="2971800"/>
            <a:ext cx="17007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6D28D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STEP 5</a:t>
            </a:r>
            <a:endParaRPr lang="en-US" sz="800" dirty="0"/>
          </a:p>
        </p:txBody>
      </p:sp>
      <p:sp>
        <p:nvSpPr>
          <p:cNvPr id="42" name="Text 31"/>
          <p:cNvSpPr/>
          <p:nvPr/>
        </p:nvSpPr>
        <p:spPr>
          <a:xfrm>
            <a:off x="8229600" y="3191256"/>
            <a:ext cx="1591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1000" b="1" dirty="0">
                <a:solidFill>
                  <a:srgbClr val="0E0B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COLLECTION</a:t>
            </a:r>
            <a:endParaRPr lang="en-US" sz="1000" dirty="0"/>
          </a:p>
        </p:txBody>
      </p:sp>
      <p:sp>
        <p:nvSpPr>
          <p:cNvPr id="43" name="Text 32"/>
          <p:cNvSpPr/>
          <p:nvPr/>
        </p:nvSpPr>
        <p:spPr>
          <a:xfrm>
            <a:off x="8266176" y="3630168"/>
            <a:ext cx="15179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8B8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Snapshots a production DB volume</a:t>
            </a:r>
            <a:endParaRPr lang="en-US" sz="900" dirty="0"/>
          </a:p>
        </p:txBody>
      </p:sp>
      <p:pic>
        <p:nvPicPr>
          <p:cNvPr id="44" name="Image 9" descr="to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912096" y="3291840"/>
            <a:ext cx="128016" cy="137160"/>
          </a:xfrm>
          <a:prstGeom prst="rect">
            <a:avLst/>
          </a:prstGeom>
        </p:spPr>
      </p:pic>
      <p:sp>
        <p:nvSpPr>
          <p:cNvPr id="45" name="Shape 33"/>
          <p:cNvSpPr/>
          <p:nvPr/>
        </p:nvSpPr>
        <p:spPr>
          <a:xfrm>
            <a:off x="10076688" y="2057400"/>
            <a:ext cx="1700784" cy="2606040"/>
          </a:xfrm>
          <a:prstGeom prst="rect">
            <a:avLst/>
          </a:prstGeom>
          <a:solidFill>
            <a:srgbClr val="F4F2FA"/>
          </a:solidFill>
          <a:ln w="12700">
            <a:solidFill>
              <a:srgbClr val="E3DFF0"/>
            </a:solidFill>
            <a:prstDash val="solid"/>
          </a:ln>
        </p:spPr>
      </p:sp>
      <p:sp>
        <p:nvSpPr>
          <p:cNvPr id="46" name="Shape 34"/>
          <p:cNvSpPr/>
          <p:nvPr/>
        </p:nvSpPr>
        <p:spPr>
          <a:xfrm>
            <a:off x="10076688" y="2057400"/>
            <a:ext cx="1700784" cy="73152"/>
          </a:xfrm>
          <a:prstGeom prst="rect">
            <a:avLst/>
          </a:prstGeom>
          <a:solidFill>
            <a:srgbClr val="6D28D9"/>
          </a:solidFill>
          <a:ln/>
        </p:spPr>
      </p:sp>
      <p:sp>
        <p:nvSpPr>
          <p:cNvPr id="47" name="Shape 35"/>
          <p:cNvSpPr/>
          <p:nvPr/>
        </p:nvSpPr>
        <p:spPr>
          <a:xfrm>
            <a:off x="10616184" y="2286000"/>
            <a:ext cx="621792" cy="621792"/>
          </a:xfrm>
          <a:prstGeom prst="roundRect">
            <a:avLst>
              <a:gd name="adj" fmla="val 22000"/>
            </a:avLst>
          </a:prstGeom>
          <a:solidFill>
            <a:srgbClr val="6D28D9"/>
          </a:solidFill>
          <a:ln/>
        </p:spPr>
      </p:sp>
      <p:pic>
        <p:nvPicPr>
          <p:cNvPr id="48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771632" y="2441448"/>
            <a:ext cx="310896" cy="310896"/>
          </a:xfrm>
          <a:prstGeom prst="rect">
            <a:avLst/>
          </a:prstGeom>
        </p:spPr>
      </p:pic>
      <p:sp>
        <p:nvSpPr>
          <p:cNvPr id="49" name="Text 36"/>
          <p:cNvSpPr/>
          <p:nvPr/>
        </p:nvSpPr>
        <p:spPr>
          <a:xfrm>
            <a:off x="10076688" y="2971800"/>
            <a:ext cx="17007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6D28D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STEP 6</a:t>
            </a:r>
            <a:endParaRPr lang="en-US" sz="800" dirty="0"/>
          </a:p>
        </p:txBody>
      </p:sp>
      <p:sp>
        <p:nvSpPr>
          <p:cNvPr id="50" name="Text 37"/>
          <p:cNvSpPr/>
          <p:nvPr/>
        </p:nvSpPr>
        <p:spPr>
          <a:xfrm>
            <a:off x="10131552" y="3191256"/>
            <a:ext cx="1591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1000" b="1" dirty="0">
                <a:solidFill>
                  <a:srgbClr val="0E0B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EXFILTRATION</a:t>
            </a:r>
            <a:endParaRPr lang="en-US" sz="1000" dirty="0"/>
          </a:p>
        </p:txBody>
      </p:sp>
      <p:sp>
        <p:nvSpPr>
          <p:cNvPr id="51" name="Text 38"/>
          <p:cNvSpPr/>
          <p:nvPr/>
        </p:nvSpPr>
        <p:spPr>
          <a:xfrm>
            <a:off x="10168128" y="3630168"/>
            <a:ext cx="15179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8B8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Snapshot shared to an external account</a:t>
            </a:r>
            <a:endParaRPr lang="en-US" sz="900" dirty="0"/>
          </a:p>
        </p:txBody>
      </p:sp>
      <p:sp>
        <p:nvSpPr>
          <p:cNvPr id="52" name="Shape 39"/>
          <p:cNvSpPr/>
          <p:nvPr/>
        </p:nvSpPr>
        <p:spPr>
          <a:xfrm>
            <a:off x="566928" y="4937760"/>
            <a:ext cx="11064240" cy="1051560"/>
          </a:xfrm>
          <a:prstGeom prst="rect">
            <a:avLst/>
          </a:prstGeom>
          <a:solidFill>
            <a:srgbClr val="0E0B1A"/>
          </a:solidFill>
          <a:ln/>
        </p:spPr>
      </p:sp>
      <p:pic>
        <p:nvPicPr>
          <p:cNvPr id="5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68680" y="5230368"/>
            <a:ext cx="457200" cy="457200"/>
          </a:xfrm>
          <a:prstGeom prst="rect">
            <a:avLst/>
          </a:prstGeom>
        </p:spPr>
      </p:pic>
      <p:sp>
        <p:nvSpPr>
          <p:cNvPr id="54" name="Text 40"/>
          <p:cNvSpPr/>
          <p:nvPr/>
        </p:nvSpPr>
        <p:spPr>
          <a:xfrm>
            <a:off x="1508760" y="502920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Every node is auto-mapped to MITRE ATT&amp;CK</a:t>
            </a:r>
            <a:endParaRPr lang="en-US" sz="1300" dirty="0"/>
          </a:p>
        </p:txBody>
      </p:sp>
      <p:sp>
        <p:nvSpPr>
          <p:cNvPr id="55" name="Text 41"/>
          <p:cNvSpPr/>
          <p:nvPr/>
        </p:nvSpPr>
        <p:spPr>
          <a:xfrm>
            <a:off x="1508760" y="5422392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T1552 · T1078 · T1098 · T1021 · T1530 · TA0010 — the path doubles as a defensible, framework-aligned report.</a:t>
            </a:r>
            <a:endParaRPr lang="en-US" sz="1100" dirty="0"/>
          </a:p>
        </p:txBody>
      </p:sp>
      <p:sp>
        <p:nvSpPr>
          <p:cNvPr id="56" name="Text 42"/>
          <p:cNvSpPr/>
          <p:nvPr/>
        </p:nvSpPr>
        <p:spPr>
          <a:xfrm>
            <a:off x="1123157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84A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07</a:t>
            </a:r>
            <a:endParaRPr lang="en-US" sz="1100" dirty="0"/>
          </a:p>
        </p:txBody>
      </p:sp>
      <p:sp>
        <p:nvSpPr>
          <p:cNvPr id="57" name="Text 43"/>
          <p:cNvSpPr/>
          <p:nvPr/>
        </p:nvSpPr>
        <p:spPr>
          <a:xfrm>
            <a:off x="548640" y="6355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8B8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 GROUP  ·  RED SPEARS LABS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D28D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POINT A · THE TRIGGER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0B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agent starts where the alert lands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1536192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8B8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IR agent never starts from a blank page. It starts from a single signal — one alert, one anomaly — and validates outward from there.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66928" y="2468880"/>
            <a:ext cx="5074920" cy="3611880"/>
          </a:xfrm>
          <a:prstGeom prst="rect">
            <a:avLst/>
          </a:prstGeom>
          <a:solidFill>
            <a:srgbClr val="0E0B1A"/>
          </a:solidFill>
          <a:ln/>
        </p:spPr>
      </p:sp>
      <p:sp>
        <p:nvSpPr>
          <p:cNvPr id="6" name="Shape 4"/>
          <p:cNvSpPr/>
          <p:nvPr/>
        </p:nvSpPr>
        <p:spPr>
          <a:xfrm>
            <a:off x="566928" y="2468880"/>
            <a:ext cx="5074920" cy="91440"/>
          </a:xfrm>
          <a:prstGeom prst="rect">
            <a:avLst/>
          </a:prstGeom>
          <a:solidFill>
            <a:srgbClr val="E11D48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74320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63040" y="27889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FB718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STARTING SIGNAL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68680" y="3246120"/>
            <a:ext cx="4526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C9C4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"GuardDuty: anomalous S3 API call from unrecognized IP — UnauthorizedAccess:IAMUser/InstanceCredentialExfiltration"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68680" y="429768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Point A. Everything else is unknown.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868680" y="4709160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11D4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?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1188720" y="470916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C4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Whose key is it?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868680" y="5038344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11D4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?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1188720" y="5038344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C4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it still active?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868680" y="5367528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11D4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?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188720" y="5367528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C4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did it touch?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868680" y="5696712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11D4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?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1188720" y="5696712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C4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did it go next?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5989320" y="246888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0B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validate-and-expand loop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5989320" y="2926080"/>
            <a:ext cx="566928" cy="566928"/>
          </a:xfrm>
          <a:prstGeom prst="roundRect">
            <a:avLst>
              <a:gd name="adj" fmla="val 22000"/>
            </a:avLst>
          </a:prstGeom>
          <a:solidFill>
            <a:srgbClr val="6D28D9"/>
          </a:solidFill>
          <a:ln/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31052" y="3067812"/>
            <a:ext cx="283464" cy="283464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6720840" y="294436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0B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OBSERVE</a:t>
            </a:r>
            <a:endParaRPr lang="en-US" sz="1250" dirty="0"/>
          </a:p>
        </p:txBody>
      </p:sp>
      <p:sp>
        <p:nvSpPr>
          <p:cNvPr id="23" name="Text 19"/>
          <p:cNvSpPr/>
          <p:nvPr/>
        </p:nvSpPr>
        <p:spPr>
          <a:xfrm>
            <a:off x="6720840" y="3218688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8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Pull the raw event behind the alert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6272784" y="3493008"/>
            <a:ext cx="0" cy="201168"/>
          </a:xfrm>
          <a:prstGeom prst="line">
            <a:avLst/>
          </a:prstGeom>
          <a:noFill/>
          <a:ln w="25400">
            <a:solidFill>
              <a:srgbClr val="E3DFF0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5989320" y="3694176"/>
            <a:ext cx="566928" cy="566928"/>
          </a:xfrm>
          <a:prstGeom prst="roundRect">
            <a:avLst>
              <a:gd name="adj" fmla="val 22000"/>
            </a:avLst>
          </a:prstGeom>
          <a:solidFill>
            <a:srgbClr val="E11D48"/>
          </a:solidFill>
          <a:ln/>
        </p:spPr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1052" y="3835908"/>
            <a:ext cx="283464" cy="283464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6720840" y="3712464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0B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VALIDATE</a:t>
            </a:r>
            <a:endParaRPr lang="en-US" sz="1250" dirty="0"/>
          </a:p>
        </p:txBody>
      </p:sp>
      <p:sp>
        <p:nvSpPr>
          <p:cNvPr id="28" name="Text 23"/>
          <p:cNvSpPr/>
          <p:nvPr/>
        </p:nvSpPr>
        <p:spPr>
          <a:xfrm>
            <a:off x="6720840" y="3986784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8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 it with a second, independent source</a:t>
            </a:r>
            <a:endParaRPr lang="en-US" sz="1100" dirty="0"/>
          </a:p>
        </p:txBody>
      </p:sp>
      <p:sp>
        <p:nvSpPr>
          <p:cNvPr id="29" name="Shape 24"/>
          <p:cNvSpPr/>
          <p:nvPr/>
        </p:nvSpPr>
        <p:spPr>
          <a:xfrm>
            <a:off x="6272784" y="4261104"/>
            <a:ext cx="0" cy="201168"/>
          </a:xfrm>
          <a:prstGeom prst="line">
            <a:avLst/>
          </a:prstGeom>
          <a:noFill/>
          <a:ln w="25400">
            <a:solidFill>
              <a:srgbClr val="E3DFF0"/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>
            <a:off x="5989320" y="4462272"/>
            <a:ext cx="566928" cy="566928"/>
          </a:xfrm>
          <a:prstGeom prst="roundRect">
            <a:avLst>
              <a:gd name="adj" fmla="val 22000"/>
            </a:avLst>
          </a:prstGeom>
          <a:solidFill>
            <a:srgbClr val="6D28D9"/>
          </a:solidFill>
          <a:ln/>
        </p:spPr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31052" y="4604004"/>
            <a:ext cx="283464" cy="283464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6720840" y="448056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0B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EXPAND</a:t>
            </a:r>
            <a:endParaRPr lang="en-US" sz="1250" dirty="0"/>
          </a:p>
        </p:txBody>
      </p:sp>
      <p:sp>
        <p:nvSpPr>
          <p:cNvPr id="33" name="Text 27"/>
          <p:cNvSpPr/>
          <p:nvPr/>
        </p:nvSpPr>
        <p:spPr>
          <a:xfrm>
            <a:off x="6720840" y="475488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8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Follow every entity the event touches</a:t>
            </a:r>
            <a:endParaRPr lang="en-US" sz="1100" dirty="0"/>
          </a:p>
        </p:txBody>
      </p:sp>
      <p:sp>
        <p:nvSpPr>
          <p:cNvPr id="34" name="Shape 28"/>
          <p:cNvSpPr/>
          <p:nvPr/>
        </p:nvSpPr>
        <p:spPr>
          <a:xfrm>
            <a:off x="6272784" y="5029200"/>
            <a:ext cx="0" cy="201168"/>
          </a:xfrm>
          <a:prstGeom prst="line">
            <a:avLst/>
          </a:prstGeom>
          <a:noFill/>
          <a:ln w="25400">
            <a:solidFill>
              <a:srgbClr val="E3DFF0"/>
            </a:solidFill>
            <a:prstDash val="solid"/>
          </a:ln>
        </p:spPr>
      </p:sp>
      <p:sp>
        <p:nvSpPr>
          <p:cNvPr id="35" name="Shape 29"/>
          <p:cNvSpPr/>
          <p:nvPr/>
        </p:nvSpPr>
        <p:spPr>
          <a:xfrm>
            <a:off x="5989320" y="5230368"/>
            <a:ext cx="566928" cy="566928"/>
          </a:xfrm>
          <a:prstGeom prst="roundRect">
            <a:avLst>
              <a:gd name="adj" fmla="val 22000"/>
            </a:avLst>
          </a:prstGeom>
          <a:solidFill>
            <a:srgbClr val="E11D48"/>
          </a:solidFill>
          <a:ln/>
        </p:spPr>
      </p:sp>
      <p:pic>
        <p:nvPicPr>
          <p:cNvPr id="3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31052" y="5372100"/>
            <a:ext cx="283464" cy="283464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6720840" y="5248656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0B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REPEAT</a:t>
            </a:r>
            <a:endParaRPr lang="en-US" sz="1250" dirty="0"/>
          </a:p>
        </p:txBody>
      </p:sp>
      <p:sp>
        <p:nvSpPr>
          <p:cNvPr id="38" name="Text 31"/>
          <p:cNvSpPr/>
          <p:nvPr/>
        </p:nvSpPr>
        <p:spPr>
          <a:xfrm>
            <a:off x="6720840" y="5522976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8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new entity becomes the next Point A</a:t>
            </a:r>
            <a:endParaRPr lang="en-US" sz="1100" dirty="0"/>
          </a:p>
        </p:txBody>
      </p:sp>
      <p:sp>
        <p:nvSpPr>
          <p:cNvPr id="39" name="Text 32"/>
          <p:cNvSpPr/>
          <p:nvPr/>
        </p:nvSpPr>
        <p:spPr>
          <a:xfrm>
            <a:off x="1123157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84A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08</a:t>
            </a:r>
            <a:endParaRPr lang="en-US" sz="1100" dirty="0"/>
          </a:p>
        </p:txBody>
      </p:sp>
      <p:sp>
        <p:nvSpPr>
          <p:cNvPr id="40" name="Text 33"/>
          <p:cNvSpPr/>
          <p:nvPr/>
        </p:nvSpPr>
        <p:spPr>
          <a:xfrm>
            <a:off x="548640" y="6355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8B8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 GROUP  ·  RED SPEARS LABS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E0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78BF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HOW THE AGENT VALIDATES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Each step is proven before the next begins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11064240" cy="749808"/>
          </a:xfrm>
          <a:prstGeom prst="rect">
            <a:avLst/>
          </a:prstGeom>
          <a:solidFill>
            <a:srgbClr val="1A1430"/>
          </a:solidFill>
          <a:ln w="12700">
            <a:solidFill>
              <a:srgbClr val="2A234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1947672"/>
            <a:ext cx="420624" cy="420624"/>
          </a:xfrm>
          <a:prstGeom prst="ellipse">
            <a:avLst/>
          </a:prstGeom>
          <a:solidFill>
            <a:srgbClr val="E11D48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9476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371600" y="1828800"/>
            <a:ext cx="30175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Anomalous S3 call flagged</a:t>
            </a:r>
            <a:endParaRPr lang="en-US" sz="115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26280" y="1920240"/>
            <a:ext cx="182880" cy="1828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773168" y="1810512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C9C4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CloudTrail event confirms the API call &amp; source IP</a:t>
            </a:r>
            <a:endParaRPr lang="en-US" sz="95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0" y="2185416"/>
            <a:ext cx="182880" cy="1828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773168" y="2148840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AbuseIPDB + Shodan score the IP as malicious infra</a:t>
            </a:r>
            <a:endParaRPr lang="en-US" sz="950" dirty="0"/>
          </a:p>
        </p:txBody>
      </p:sp>
      <p:sp>
        <p:nvSpPr>
          <p:cNvPr id="12" name="Shape 8"/>
          <p:cNvSpPr/>
          <p:nvPr/>
        </p:nvSpPr>
        <p:spPr>
          <a:xfrm>
            <a:off x="8275320" y="1874520"/>
            <a:ext cx="0" cy="566928"/>
          </a:xfrm>
          <a:prstGeom prst="line">
            <a:avLst/>
          </a:prstGeom>
          <a:noFill/>
          <a:ln w="12700">
            <a:solidFill>
              <a:srgbClr val="2A2348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566928" y="2642616"/>
            <a:ext cx="11064240" cy="749808"/>
          </a:xfrm>
          <a:prstGeom prst="rect">
            <a:avLst/>
          </a:prstGeom>
          <a:solidFill>
            <a:srgbClr val="1A1430"/>
          </a:solidFill>
          <a:ln w="12700">
            <a:solidFill>
              <a:srgbClr val="2A2348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749808" y="2807208"/>
            <a:ext cx="420624" cy="420624"/>
          </a:xfrm>
          <a:prstGeom prst="ellipse">
            <a:avLst/>
          </a:prstGeom>
          <a:solidFill>
            <a:srgbClr val="E11D48"/>
          </a:solidFill>
          <a:ln/>
        </p:spPr>
      </p:sp>
      <p:sp>
        <p:nvSpPr>
          <p:cNvPr id="15" name="Text 11"/>
          <p:cNvSpPr/>
          <p:nvPr/>
        </p:nvSpPr>
        <p:spPr>
          <a:xfrm>
            <a:off x="749808" y="28072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1371600" y="2688336"/>
            <a:ext cx="30175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Identity behind the key</a:t>
            </a:r>
            <a:endParaRPr lang="en-US" sz="1150" dirty="0"/>
          </a:p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6280" y="2779776"/>
            <a:ext cx="182880" cy="18288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4773168" y="2670048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C9C4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IAM access-key ID resolves to an EC2 instance role</a:t>
            </a:r>
            <a:endParaRPr lang="en-US" sz="950" dirty="0"/>
          </a:p>
        </p:txBody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26280" y="3044952"/>
            <a:ext cx="182880" cy="18288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4773168" y="3008376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CloudTrail shows the key was never used from this ASN before</a:t>
            </a:r>
            <a:endParaRPr lang="en-US" sz="950" dirty="0"/>
          </a:p>
        </p:txBody>
      </p:sp>
      <p:sp>
        <p:nvSpPr>
          <p:cNvPr id="21" name="Shape 15"/>
          <p:cNvSpPr/>
          <p:nvPr/>
        </p:nvSpPr>
        <p:spPr>
          <a:xfrm>
            <a:off x="8275320" y="2734056"/>
            <a:ext cx="0" cy="566928"/>
          </a:xfrm>
          <a:prstGeom prst="line">
            <a:avLst/>
          </a:prstGeom>
          <a:noFill/>
          <a:ln w="12700">
            <a:solidFill>
              <a:srgbClr val="2A2348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566928" y="3502152"/>
            <a:ext cx="11064240" cy="749808"/>
          </a:xfrm>
          <a:prstGeom prst="rect">
            <a:avLst/>
          </a:prstGeom>
          <a:solidFill>
            <a:srgbClr val="1A1430"/>
          </a:solidFill>
          <a:ln w="12700">
            <a:solidFill>
              <a:srgbClr val="2A2348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749808" y="3666744"/>
            <a:ext cx="420624" cy="420624"/>
          </a:xfrm>
          <a:prstGeom prst="ellipse">
            <a:avLst/>
          </a:prstGeom>
          <a:solidFill>
            <a:srgbClr val="E11D48"/>
          </a:solidFill>
          <a:ln/>
        </p:spPr>
      </p:sp>
      <p:sp>
        <p:nvSpPr>
          <p:cNvPr id="24" name="Text 18"/>
          <p:cNvSpPr/>
          <p:nvPr/>
        </p:nvSpPr>
        <p:spPr>
          <a:xfrm>
            <a:off x="749808" y="36667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</a:t>
            </a:r>
            <a:endParaRPr lang="en-US" sz="1500" dirty="0"/>
          </a:p>
        </p:txBody>
      </p:sp>
      <p:sp>
        <p:nvSpPr>
          <p:cNvPr id="25" name="Text 19"/>
          <p:cNvSpPr/>
          <p:nvPr/>
        </p:nvSpPr>
        <p:spPr>
          <a:xfrm>
            <a:off x="1371600" y="3547872"/>
            <a:ext cx="30175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How access escalated</a:t>
            </a:r>
            <a:endParaRPr lang="en-US" sz="1150" dirty="0"/>
          </a:p>
        </p:txBody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26280" y="3639312"/>
            <a:ext cx="182880" cy="18288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773168" y="3529584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C9C4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 policy review reveals wildcard admin permissions</a:t>
            </a:r>
            <a:endParaRPr lang="en-US" sz="950" dirty="0"/>
          </a:p>
        </p:txBody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26280" y="3904488"/>
            <a:ext cx="182880" cy="182880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4773168" y="3867912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 timeline shows the policy change predates the breach</a:t>
            </a:r>
            <a:endParaRPr lang="en-US" sz="950" dirty="0"/>
          </a:p>
        </p:txBody>
      </p:sp>
      <p:sp>
        <p:nvSpPr>
          <p:cNvPr id="30" name="Shape 22"/>
          <p:cNvSpPr/>
          <p:nvPr/>
        </p:nvSpPr>
        <p:spPr>
          <a:xfrm>
            <a:off x="8275320" y="3593592"/>
            <a:ext cx="0" cy="566928"/>
          </a:xfrm>
          <a:prstGeom prst="line">
            <a:avLst/>
          </a:prstGeom>
          <a:noFill/>
          <a:ln w="12700">
            <a:solidFill>
              <a:srgbClr val="2A2348"/>
            </a:solidFill>
            <a:prstDash val="solid"/>
          </a:ln>
        </p:spPr>
      </p:sp>
      <p:sp>
        <p:nvSpPr>
          <p:cNvPr id="31" name="Shape 23"/>
          <p:cNvSpPr/>
          <p:nvPr/>
        </p:nvSpPr>
        <p:spPr>
          <a:xfrm>
            <a:off x="566928" y="4361688"/>
            <a:ext cx="11064240" cy="749808"/>
          </a:xfrm>
          <a:prstGeom prst="rect">
            <a:avLst/>
          </a:prstGeom>
          <a:solidFill>
            <a:srgbClr val="1A1430"/>
          </a:solidFill>
          <a:ln w="12700">
            <a:solidFill>
              <a:srgbClr val="2A2348"/>
            </a:solidFill>
            <a:prstDash val="solid"/>
          </a:ln>
        </p:spPr>
      </p:sp>
      <p:sp>
        <p:nvSpPr>
          <p:cNvPr id="32" name="Shape 24"/>
          <p:cNvSpPr/>
          <p:nvPr/>
        </p:nvSpPr>
        <p:spPr>
          <a:xfrm>
            <a:off x="749808" y="4526280"/>
            <a:ext cx="420624" cy="420624"/>
          </a:xfrm>
          <a:prstGeom prst="ellipse">
            <a:avLst/>
          </a:prstGeom>
          <a:solidFill>
            <a:srgbClr val="E11D48"/>
          </a:solidFill>
          <a:ln/>
        </p:spPr>
      </p:sp>
      <p:sp>
        <p:nvSpPr>
          <p:cNvPr id="33" name="Text 25"/>
          <p:cNvSpPr/>
          <p:nvPr/>
        </p:nvSpPr>
        <p:spPr>
          <a:xfrm>
            <a:off x="749808" y="45262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</a:t>
            </a:r>
            <a:endParaRPr lang="en-US" sz="1500" dirty="0"/>
          </a:p>
        </p:txBody>
      </p:sp>
      <p:sp>
        <p:nvSpPr>
          <p:cNvPr id="34" name="Text 26"/>
          <p:cNvSpPr/>
          <p:nvPr/>
        </p:nvSpPr>
        <p:spPr>
          <a:xfrm>
            <a:off x="1371600" y="4407408"/>
            <a:ext cx="30175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Where it moved</a:t>
            </a:r>
            <a:endParaRPr lang="en-US" sz="1150" dirty="0"/>
          </a:p>
        </p:txBody>
      </p:sp>
      <p:pic>
        <p:nvPicPr>
          <p:cNvPr id="3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26280" y="4498848"/>
            <a:ext cx="182880" cy="182880"/>
          </a:xfrm>
          <a:prstGeom prst="rect">
            <a:avLst/>
          </a:prstGeom>
        </p:spPr>
      </p:pic>
      <p:sp>
        <p:nvSpPr>
          <p:cNvPr id="36" name="Text 27"/>
          <p:cNvSpPr/>
          <p:nvPr/>
        </p:nvSpPr>
        <p:spPr>
          <a:xfrm>
            <a:off x="4773168" y="438912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C9C4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VPC flow logs show new east-west traffic to the DB subnet</a:t>
            </a:r>
            <a:endParaRPr lang="en-US" sz="950" dirty="0"/>
          </a:p>
        </p:txBody>
      </p:sp>
      <p:pic>
        <p:nvPicPr>
          <p:cNvPr id="3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26280" y="4764024"/>
            <a:ext cx="182880" cy="182880"/>
          </a:xfrm>
          <a:prstGeom prst="rect">
            <a:avLst/>
          </a:prstGeom>
        </p:spPr>
      </p:pic>
      <p:sp>
        <p:nvSpPr>
          <p:cNvPr id="38" name="Text 28"/>
          <p:cNvSpPr/>
          <p:nvPr/>
        </p:nvSpPr>
        <p:spPr>
          <a:xfrm>
            <a:off x="4773168" y="4727448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EDR (Cortex XDR) confirms no process on the host did this — it's API-only</a:t>
            </a:r>
            <a:endParaRPr lang="en-US" sz="950" dirty="0"/>
          </a:p>
        </p:txBody>
      </p:sp>
      <p:sp>
        <p:nvSpPr>
          <p:cNvPr id="39" name="Shape 29"/>
          <p:cNvSpPr/>
          <p:nvPr/>
        </p:nvSpPr>
        <p:spPr>
          <a:xfrm>
            <a:off x="8275320" y="4453128"/>
            <a:ext cx="0" cy="566928"/>
          </a:xfrm>
          <a:prstGeom prst="line">
            <a:avLst/>
          </a:prstGeom>
          <a:noFill/>
          <a:ln w="12700">
            <a:solidFill>
              <a:srgbClr val="2A2348"/>
            </a:solidFill>
            <a:prstDash val="solid"/>
          </a:ln>
        </p:spPr>
      </p:sp>
      <p:sp>
        <p:nvSpPr>
          <p:cNvPr id="40" name="Shape 30"/>
          <p:cNvSpPr/>
          <p:nvPr/>
        </p:nvSpPr>
        <p:spPr>
          <a:xfrm>
            <a:off x="566928" y="5221224"/>
            <a:ext cx="11064240" cy="749808"/>
          </a:xfrm>
          <a:prstGeom prst="rect">
            <a:avLst/>
          </a:prstGeom>
          <a:solidFill>
            <a:srgbClr val="1A1430"/>
          </a:solidFill>
          <a:ln w="12700">
            <a:solidFill>
              <a:srgbClr val="2A2348"/>
            </a:solidFill>
            <a:prstDash val="solid"/>
          </a:ln>
        </p:spPr>
      </p:sp>
      <p:sp>
        <p:nvSpPr>
          <p:cNvPr id="41" name="Shape 31"/>
          <p:cNvSpPr/>
          <p:nvPr/>
        </p:nvSpPr>
        <p:spPr>
          <a:xfrm>
            <a:off x="749808" y="5385816"/>
            <a:ext cx="420624" cy="420624"/>
          </a:xfrm>
          <a:prstGeom prst="ellipse">
            <a:avLst/>
          </a:prstGeom>
          <a:solidFill>
            <a:srgbClr val="E11D48"/>
          </a:solidFill>
          <a:ln/>
        </p:spPr>
      </p:sp>
      <p:sp>
        <p:nvSpPr>
          <p:cNvPr id="42" name="Text 32"/>
          <p:cNvSpPr/>
          <p:nvPr/>
        </p:nvSpPr>
        <p:spPr>
          <a:xfrm>
            <a:off x="749808" y="53858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</a:t>
            </a:r>
            <a:endParaRPr lang="en-US" sz="1500" dirty="0"/>
          </a:p>
        </p:txBody>
      </p:sp>
      <p:sp>
        <p:nvSpPr>
          <p:cNvPr id="43" name="Text 33"/>
          <p:cNvSpPr/>
          <p:nvPr/>
        </p:nvSpPr>
        <p:spPr>
          <a:xfrm>
            <a:off x="1371600" y="5266944"/>
            <a:ext cx="30175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left the org</a:t>
            </a:r>
            <a:endParaRPr lang="en-US" sz="1150" dirty="0"/>
          </a:p>
        </p:txBody>
      </p:sp>
      <p:pic>
        <p:nvPicPr>
          <p:cNvPr id="44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26280" y="5358384"/>
            <a:ext cx="182880" cy="182880"/>
          </a:xfrm>
          <a:prstGeom prst="rect">
            <a:avLst/>
          </a:prstGeom>
        </p:spPr>
      </p:pic>
      <p:sp>
        <p:nvSpPr>
          <p:cNvPr id="45" name="Text 34"/>
          <p:cNvSpPr/>
          <p:nvPr/>
        </p:nvSpPr>
        <p:spPr>
          <a:xfrm>
            <a:off x="4773168" y="5248656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C9C4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CloudTrail ModifySnapshotAttribute shares a volume externally</a:t>
            </a:r>
            <a:endParaRPr lang="en-US" sz="950" dirty="0"/>
          </a:p>
        </p:txBody>
      </p:sp>
      <p:pic>
        <p:nvPicPr>
          <p:cNvPr id="46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26280" y="5623560"/>
            <a:ext cx="182880" cy="182880"/>
          </a:xfrm>
          <a:prstGeom prst="rect">
            <a:avLst/>
          </a:prstGeom>
        </p:spPr>
      </p:pic>
      <p:sp>
        <p:nvSpPr>
          <p:cNvPr id="47" name="Text 35"/>
          <p:cNvSpPr/>
          <p:nvPr/>
        </p:nvSpPr>
        <p:spPr>
          <a:xfrm>
            <a:off x="4773168" y="5586984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destination account ID is outside the org — exfiltration confirmed</a:t>
            </a:r>
            <a:endParaRPr lang="en-US" sz="950" dirty="0"/>
          </a:p>
        </p:txBody>
      </p:sp>
      <p:sp>
        <p:nvSpPr>
          <p:cNvPr id="48" name="Shape 36"/>
          <p:cNvSpPr/>
          <p:nvPr/>
        </p:nvSpPr>
        <p:spPr>
          <a:xfrm>
            <a:off x="8275320" y="5312664"/>
            <a:ext cx="0" cy="566928"/>
          </a:xfrm>
          <a:prstGeom prst="line">
            <a:avLst/>
          </a:prstGeom>
          <a:noFill/>
          <a:ln w="12700">
            <a:solidFill>
              <a:srgbClr val="2A2348"/>
            </a:solidFill>
            <a:prstDash val="solid"/>
          </a:ln>
        </p:spPr>
      </p:sp>
      <p:sp>
        <p:nvSpPr>
          <p:cNvPr id="49" name="Text 37"/>
          <p:cNvSpPr/>
          <p:nvPr/>
        </p:nvSpPr>
        <p:spPr>
          <a:xfrm>
            <a:off x="566928" y="614476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8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step is trusted on a single source — two independent confirmations, or it stays a hypothesis.</a:t>
            </a:r>
            <a:endParaRPr lang="en-US" sz="1100" dirty="0"/>
          </a:p>
        </p:txBody>
      </p:sp>
      <p:sp>
        <p:nvSpPr>
          <p:cNvPr id="50" name="Text 38"/>
          <p:cNvSpPr/>
          <p:nvPr/>
        </p:nvSpPr>
        <p:spPr>
          <a:xfrm>
            <a:off x="1123157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84A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09</a:t>
            </a:r>
            <a:endParaRPr lang="en-US" sz="1100" dirty="0"/>
          </a:p>
        </p:txBody>
      </p:sp>
      <p:sp>
        <p:nvSpPr>
          <p:cNvPr id="51" name="Text 39"/>
          <p:cNvSpPr/>
          <p:nvPr/>
        </p:nvSpPr>
        <p:spPr>
          <a:xfrm>
            <a:off x="548640" y="6355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8B8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 GROUP  ·  RED SPEARS LABS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D28D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CLOSING THE DOOR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0B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From proven path to staged containment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153619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8B8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Once the path is proven, AI maps each attacker foothold to a precise containment action — ranked by blast radius, ready for a human to approve.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66928" y="2377440"/>
            <a:ext cx="11064240" cy="685800"/>
          </a:xfrm>
          <a:prstGeom prst="rect">
            <a:avLst/>
          </a:prstGeom>
          <a:solidFill>
            <a:srgbClr val="F4F2FA"/>
          </a:solidFill>
          <a:ln w="12700">
            <a:solidFill>
              <a:srgbClr val="E3DF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2377440"/>
            <a:ext cx="91440" cy="685800"/>
          </a:xfrm>
          <a:prstGeom prst="rect">
            <a:avLst/>
          </a:prstGeom>
          <a:solidFill>
            <a:srgbClr val="E11D48"/>
          </a:solidFill>
          <a:ln/>
        </p:spPr>
      </p:sp>
      <p:sp>
        <p:nvSpPr>
          <p:cNvPr id="7" name="Shape 5"/>
          <p:cNvSpPr/>
          <p:nvPr/>
        </p:nvSpPr>
        <p:spPr>
          <a:xfrm>
            <a:off x="777240" y="2496312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11D48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1540" y="2610612"/>
            <a:ext cx="228600" cy="2286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17320" y="2414016"/>
            <a:ext cx="32004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0B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Revoke the credential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4754880" y="2414016"/>
            <a:ext cx="521208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8B8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Disable the IAM key &amp; attach an explicit deny policy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10241280" y="2551176"/>
            <a:ext cx="1188720" cy="338328"/>
          </a:xfrm>
          <a:prstGeom prst="roundRect">
            <a:avLst>
              <a:gd name="adj" fmla="val 16216"/>
            </a:avLst>
          </a:prstGeom>
          <a:solidFill>
            <a:srgbClr val="E11D48"/>
          </a:solidFill>
          <a:ln/>
        </p:spPr>
      </p:sp>
      <p:sp>
        <p:nvSpPr>
          <p:cNvPr id="12" name="Text 9"/>
          <p:cNvSpPr/>
          <p:nvPr/>
        </p:nvSpPr>
        <p:spPr>
          <a:xfrm>
            <a:off x="10241280" y="2551176"/>
            <a:ext cx="11887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CONTAIN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566928" y="3154680"/>
            <a:ext cx="11064240" cy="685800"/>
          </a:xfrm>
          <a:prstGeom prst="rect">
            <a:avLst/>
          </a:prstGeom>
          <a:solidFill>
            <a:srgbClr val="F4F2FA"/>
          </a:solidFill>
          <a:ln w="12700">
            <a:solidFill>
              <a:srgbClr val="E3DFF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66928" y="3154680"/>
            <a:ext cx="91440" cy="685800"/>
          </a:xfrm>
          <a:prstGeom prst="rect">
            <a:avLst/>
          </a:prstGeom>
          <a:solidFill>
            <a:srgbClr val="E11D48"/>
          </a:solidFill>
          <a:ln/>
        </p:spPr>
      </p:sp>
      <p:sp>
        <p:nvSpPr>
          <p:cNvPr id="15" name="Shape 12"/>
          <p:cNvSpPr/>
          <p:nvPr/>
        </p:nvSpPr>
        <p:spPr>
          <a:xfrm>
            <a:off x="777240" y="3273552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11D48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540" y="3387852"/>
            <a:ext cx="228600" cy="22860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417320" y="3191256"/>
            <a:ext cx="32004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0B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Block the infrastructure</a:t>
            </a:r>
            <a:endParaRPr lang="en-US" sz="1250" dirty="0"/>
          </a:p>
        </p:txBody>
      </p:sp>
      <p:sp>
        <p:nvSpPr>
          <p:cNvPr id="18" name="Text 14"/>
          <p:cNvSpPr/>
          <p:nvPr/>
        </p:nvSpPr>
        <p:spPr>
          <a:xfrm>
            <a:off x="4754880" y="3191256"/>
            <a:ext cx="521208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8B8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Quarantine the source IP / ASN at WAF &amp; security groups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10241280" y="3328416"/>
            <a:ext cx="1188720" cy="338328"/>
          </a:xfrm>
          <a:prstGeom prst="roundRect">
            <a:avLst>
              <a:gd name="adj" fmla="val 16216"/>
            </a:avLst>
          </a:prstGeom>
          <a:solidFill>
            <a:srgbClr val="E11D48"/>
          </a:solidFill>
          <a:ln/>
        </p:spPr>
      </p:sp>
      <p:sp>
        <p:nvSpPr>
          <p:cNvPr id="20" name="Text 16"/>
          <p:cNvSpPr/>
          <p:nvPr/>
        </p:nvSpPr>
        <p:spPr>
          <a:xfrm>
            <a:off x="10241280" y="3328416"/>
            <a:ext cx="11887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CONTAIN</a:t>
            </a:r>
            <a:endParaRPr lang="en-US" sz="800" dirty="0"/>
          </a:p>
        </p:txBody>
      </p:sp>
      <p:sp>
        <p:nvSpPr>
          <p:cNvPr id="21" name="Shape 17"/>
          <p:cNvSpPr/>
          <p:nvPr/>
        </p:nvSpPr>
        <p:spPr>
          <a:xfrm>
            <a:off x="566928" y="3931920"/>
            <a:ext cx="11064240" cy="685800"/>
          </a:xfrm>
          <a:prstGeom prst="rect">
            <a:avLst/>
          </a:prstGeom>
          <a:solidFill>
            <a:srgbClr val="F4F2FA"/>
          </a:solidFill>
          <a:ln w="12700">
            <a:solidFill>
              <a:srgbClr val="E3DFF0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566928" y="3931920"/>
            <a:ext cx="91440" cy="6858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3" name="Shape 19"/>
          <p:cNvSpPr/>
          <p:nvPr/>
        </p:nvSpPr>
        <p:spPr>
          <a:xfrm>
            <a:off x="777240" y="4050792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59E0B"/>
          </a:solidFill>
          <a:ln/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540" y="4165092"/>
            <a:ext cx="228600" cy="22860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1417320" y="3968496"/>
            <a:ext cx="32004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0B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Cut the escalation path</a:t>
            </a:r>
            <a:endParaRPr lang="en-US" sz="1250" dirty="0"/>
          </a:p>
        </p:txBody>
      </p:sp>
      <p:sp>
        <p:nvSpPr>
          <p:cNvPr id="26" name="Text 21"/>
          <p:cNvSpPr/>
          <p:nvPr/>
        </p:nvSpPr>
        <p:spPr>
          <a:xfrm>
            <a:off x="4754880" y="3968496"/>
            <a:ext cx="521208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8B8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Strip the wildcard policy; re-scope the role to least privilege</a:t>
            </a:r>
            <a:endParaRPr lang="en-US" sz="1100" dirty="0"/>
          </a:p>
        </p:txBody>
      </p:sp>
      <p:sp>
        <p:nvSpPr>
          <p:cNvPr id="27" name="Shape 22"/>
          <p:cNvSpPr/>
          <p:nvPr/>
        </p:nvSpPr>
        <p:spPr>
          <a:xfrm>
            <a:off x="10241280" y="4105656"/>
            <a:ext cx="1188720" cy="338328"/>
          </a:xfrm>
          <a:prstGeom prst="roundRect">
            <a:avLst>
              <a:gd name="adj" fmla="val 16216"/>
            </a:avLst>
          </a:prstGeom>
          <a:solidFill>
            <a:srgbClr val="F59E0B"/>
          </a:solidFill>
          <a:ln/>
        </p:spPr>
      </p:sp>
      <p:sp>
        <p:nvSpPr>
          <p:cNvPr id="28" name="Text 23"/>
          <p:cNvSpPr/>
          <p:nvPr/>
        </p:nvSpPr>
        <p:spPr>
          <a:xfrm>
            <a:off x="10241280" y="4105656"/>
            <a:ext cx="11887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ERADICATE</a:t>
            </a:r>
            <a:endParaRPr lang="en-US" sz="800" dirty="0"/>
          </a:p>
        </p:txBody>
      </p:sp>
      <p:sp>
        <p:nvSpPr>
          <p:cNvPr id="29" name="Shape 24"/>
          <p:cNvSpPr/>
          <p:nvPr/>
        </p:nvSpPr>
        <p:spPr>
          <a:xfrm>
            <a:off x="566928" y="4709160"/>
            <a:ext cx="11064240" cy="685800"/>
          </a:xfrm>
          <a:prstGeom prst="rect">
            <a:avLst/>
          </a:prstGeom>
          <a:solidFill>
            <a:srgbClr val="F4F2FA"/>
          </a:solidFill>
          <a:ln w="12700">
            <a:solidFill>
              <a:srgbClr val="E3DFF0"/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>
            <a:off x="566928" y="4709160"/>
            <a:ext cx="91440" cy="6858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1" name="Shape 26"/>
          <p:cNvSpPr/>
          <p:nvPr/>
        </p:nvSpPr>
        <p:spPr>
          <a:xfrm>
            <a:off x="777240" y="4828032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59E0B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1540" y="4942332"/>
            <a:ext cx="228600" cy="228600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417320" y="4745736"/>
            <a:ext cx="32004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0B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Stop the exfiltration</a:t>
            </a:r>
            <a:endParaRPr lang="en-US" sz="1250" dirty="0"/>
          </a:p>
        </p:txBody>
      </p:sp>
      <p:sp>
        <p:nvSpPr>
          <p:cNvPr id="34" name="Text 28"/>
          <p:cNvSpPr/>
          <p:nvPr/>
        </p:nvSpPr>
        <p:spPr>
          <a:xfrm>
            <a:off x="4754880" y="4745736"/>
            <a:ext cx="521208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8B8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Revoke the external snapshot share; rotate DB credentials</a:t>
            </a:r>
            <a:endParaRPr lang="en-US" sz="1100" dirty="0"/>
          </a:p>
        </p:txBody>
      </p:sp>
      <p:sp>
        <p:nvSpPr>
          <p:cNvPr id="35" name="Shape 29"/>
          <p:cNvSpPr/>
          <p:nvPr/>
        </p:nvSpPr>
        <p:spPr>
          <a:xfrm>
            <a:off x="10241280" y="4882896"/>
            <a:ext cx="1188720" cy="338328"/>
          </a:xfrm>
          <a:prstGeom prst="roundRect">
            <a:avLst>
              <a:gd name="adj" fmla="val 16216"/>
            </a:avLst>
          </a:prstGeom>
          <a:solidFill>
            <a:srgbClr val="F59E0B"/>
          </a:solidFill>
          <a:ln/>
        </p:spPr>
      </p:sp>
      <p:sp>
        <p:nvSpPr>
          <p:cNvPr id="36" name="Text 30"/>
          <p:cNvSpPr/>
          <p:nvPr/>
        </p:nvSpPr>
        <p:spPr>
          <a:xfrm>
            <a:off x="10241280" y="4882896"/>
            <a:ext cx="11887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ERADICATE</a:t>
            </a:r>
            <a:endParaRPr lang="en-US" sz="800" dirty="0"/>
          </a:p>
        </p:txBody>
      </p:sp>
      <p:sp>
        <p:nvSpPr>
          <p:cNvPr id="37" name="Shape 31"/>
          <p:cNvSpPr/>
          <p:nvPr/>
        </p:nvSpPr>
        <p:spPr>
          <a:xfrm>
            <a:off x="566928" y="5486400"/>
            <a:ext cx="11064240" cy="685800"/>
          </a:xfrm>
          <a:prstGeom prst="rect">
            <a:avLst/>
          </a:prstGeom>
          <a:solidFill>
            <a:srgbClr val="F4F2FA"/>
          </a:solidFill>
          <a:ln w="12700">
            <a:solidFill>
              <a:srgbClr val="E3DFF0"/>
            </a:solidFill>
            <a:prstDash val="solid"/>
          </a:ln>
        </p:spPr>
      </p:sp>
      <p:sp>
        <p:nvSpPr>
          <p:cNvPr id="38" name="Shape 32"/>
          <p:cNvSpPr/>
          <p:nvPr/>
        </p:nvSpPr>
        <p:spPr>
          <a:xfrm>
            <a:off x="566928" y="5486400"/>
            <a:ext cx="91440" cy="6858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9" name="Shape 33"/>
          <p:cNvSpPr/>
          <p:nvPr/>
        </p:nvSpPr>
        <p:spPr>
          <a:xfrm>
            <a:off x="777240" y="5605272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10B981"/>
          </a:solidFill>
          <a:ln/>
        </p:spPr>
      </p:sp>
      <p:pic>
        <p:nvPicPr>
          <p:cNvPr id="4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1540" y="5719572"/>
            <a:ext cx="228600" cy="228600"/>
          </a:xfrm>
          <a:prstGeom prst="rect">
            <a:avLst/>
          </a:prstGeom>
        </p:spPr>
      </p:pic>
      <p:sp>
        <p:nvSpPr>
          <p:cNvPr id="41" name="Text 34"/>
          <p:cNvSpPr/>
          <p:nvPr/>
        </p:nvSpPr>
        <p:spPr>
          <a:xfrm>
            <a:off x="1417320" y="5522976"/>
            <a:ext cx="32004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0B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Harden &amp; verify</a:t>
            </a:r>
            <a:endParaRPr lang="en-US" sz="1250" dirty="0"/>
          </a:p>
        </p:txBody>
      </p:sp>
      <p:sp>
        <p:nvSpPr>
          <p:cNvPr id="42" name="Text 35"/>
          <p:cNvSpPr/>
          <p:nvPr/>
        </p:nvSpPr>
        <p:spPr>
          <a:xfrm>
            <a:off x="4754880" y="5522976"/>
            <a:ext cx="521208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8B8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Enable bucket public-access block; confirm no persistence remains</a:t>
            </a:r>
            <a:endParaRPr lang="en-US" sz="1100" dirty="0"/>
          </a:p>
        </p:txBody>
      </p:sp>
      <p:sp>
        <p:nvSpPr>
          <p:cNvPr id="43" name="Shape 36"/>
          <p:cNvSpPr/>
          <p:nvPr/>
        </p:nvSpPr>
        <p:spPr>
          <a:xfrm>
            <a:off x="10241280" y="5660136"/>
            <a:ext cx="1188720" cy="338328"/>
          </a:xfrm>
          <a:prstGeom prst="roundRect">
            <a:avLst>
              <a:gd name="adj" fmla="val 16216"/>
            </a:avLst>
          </a:prstGeom>
          <a:solidFill>
            <a:srgbClr val="10B981"/>
          </a:solidFill>
          <a:ln/>
        </p:spPr>
      </p:sp>
      <p:sp>
        <p:nvSpPr>
          <p:cNvPr id="44" name="Text 37"/>
          <p:cNvSpPr/>
          <p:nvPr/>
        </p:nvSpPr>
        <p:spPr>
          <a:xfrm>
            <a:off x="10241280" y="5660136"/>
            <a:ext cx="11887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RECOVER</a:t>
            </a:r>
            <a:endParaRPr lang="en-US" sz="800" dirty="0"/>
          </a:p>
        </p:txBody>
      </p:sp>
      <p:sp>
        <p:nvSpPr>
          <p:cNvPr id="45" name="Text 38"/>
          <p:cNvSpPr/>
          <p:nvPr/>
        </p:nvSpPr>
        <p:spPr>
          <a:xfrm>
            <a:off x="566928" y="63550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0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Human-in-the-loop:  </a:t>
            </a:r>
            <a:pPr indent="0" marL="0">
              <a:buNone/>
            </a:pPr>
            <a:r>
              <a:rPr lang="en-US" sz="1150" dirty="0">
                <a:solidFill>
                  <a:srgbClr val="8B8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stages the commands. A responder approves. Nothing destructive runs unattended.</a:t>
            </a:r>
            <a:endParaRPr lang="en-US" sz="1150" dirty="0"/>
          </a:p>
        </p:txBody>
      </p:sp>
      <p:sp>
        <p:nvSpPr>
          <p:cNvPr id="46" name="Text 39"/>
          <p:cNvSpPr/>
          <p:nvPr/>
        </p:nvSpPr>
        <p:spPr>
          <a:xfrm>
            <a:off x="1123157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84A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</a:t>
            </a:r>
            <a:endParaRPr lang="en-US" sz="1100" dirty="0"/>
          </a:p>
        </p:txBody>
      </p:sp>
      <p:sp>
        <p:nvSpPr>
          <p:cNvPr id="47" name="Text 40"/>
          <p:cNvSpPr/>
          <p:nvPr/>
        </p:nvSpPr>
        <p:spPr>
          <a:xfrm>
            <a:off x="548640" y="6355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8B8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 GROUP  ·  RED SPEARS LABS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E0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78BF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KNOWLEDGE PATH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1338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One incident, four artifacts — generated automatically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66928" y="1874520"/>
            <a:ext cx="2697480" cy="3657600"/>
          </a:xfrm>
          <a:prstGeom prst="rect">
            <a:avLst/>
          </a:prstGeom>
          <a:solidFill>
            <a:srgbClr val="1A1430"/>
          </a:solidFill>
          <a:ln w="12700">
            <a:solidFill>
              <a:srgbClr val="2A234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874520"/>
            <a:ext cx="2697480" cy="91440"/>
          </a:xfrm>
          <a:prstGeom prst="rect">
            <a:avLst/>
          </a:prstGeom>
          <a:solidFill>
            <a:srgbClr val="6D28D9"/>
          </a:solidFill>
          <a:ln/>
        </p:spPr>
      </p:sp>
      <p:sp>
        <p:nvSpPr>
          <p:cNvPr id="6" name="Shape 4"/>
          <p:cNvSpPr/>
          <p:nvPr/>
        </p:nvSpPr>
        <p:spPr>
          <a:xfrm>
            <a:off x="886968" y="2240280"/>
            <a:ext cx="822960" cy="822960"/>
          </a:xfrm>
          <a:prstGeom prst="roundRect">
            <a:avLst>
              <a:gd name="adj" fmla="val 22000"/>
            </a:avLst>
          </a:prstGeom>
          <a:solidFill>
            <a:srgbClr val="6D28D9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2708" y="2446020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86968" y="3246120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attack graph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886968" y="3977640"/>
            <a:ext cx="2057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C9C4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visual causal chain — every node evidenced, every edge a log reference.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429000" y="1874520"/>
            <a:ext cx="2697480" cy="3657600"/>
          </a:xfrm>
          <a:prstGeom prst="rect">
            <a:avLst/>
          </a:prstGeom>
          <a:solidFill>
            <a:srgbClr val="1A1430"/>
          </a:solidFill>
          <a:ln w="12700">
            <a:solidFill>
              <a:srgbClr val="2A234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429000" y="1874520"/>
            <a:ext cx="2697480" cy="91440"/>
          </a:xfrm>
          <a:prstGeom prst="rect">
            <a:avLst/>
          </a:prstGeom>
          <a:solidFill>
            <a:srgbClr val="E11D48"/>
          </a:solidFill>
          <a:ln/>
        </p:spPr>
      </p:sp>
      <p:sp>
        <p:nvSpPr>
          <p:cNvPr id="12" name="Shape 9"/>
          <p:cNvSpPr/>
          <p:nvPr/>
        </p:nvSpPr>
        <p:spPr>
          <a:xfrm>
            <a:off x="3749040" y="2240280"/>
            <a:ext cx="822960" cy="822960"/>
          </a:xfrm>
          <a:prstGeom prst="roundRect">
            <a:avLst>
              <a:gd name="adj" fmla="val 22000"/>
            </a:avLst>
          </a:prstGeom>
          <a:solidFill>
            <a:srgbClr val="E11D48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4780" y="2446020"/>
            <a:ext cx="411480" cy="41148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749040" y="3246120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executive narrative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3749040" y="3977640"/>
            <a:ext cx="2057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C9C4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Plain-language story of what happened, in business terms, for leadership.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91072" y="1874520"/>
            <a:ext cx="2697480" cy="3657600"/>
          </a:xfrm>
          <a:prstGeom prst="rect">
            <a:avLst/>
          </a:prstGeom>
          <a:solidFill>
            <a:srgbClr val="1A1430"/>
          </a:solidFill>
          <a:ln w="12700">
            <a:solidFill>
              <a:srgbClr val="2A2348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291072" y="1874520"/>
            <a:ext cx="2697480" cy="91440"/>
          </a:xfrm>
          <a:prstGeom prst="rect">
            <a:avLst/>
          </a:prstGeom>
          <a:solidFill>
            <a:srgbClr val="6D28D9"/>
          </a:solidFill>
          <a:ln/>
        </p:spPr>
      </p:sp>
      <p:sp>
        <p:nvSpPr>
          <p:cNvPr id="18" name="Shape 14"/>
          <p:cNvSpPr/>
          <p:nvPr/>
        </p:nvSpPr>
        <p:spPr>
          <a:xfrm>
            <a:off x="6611112" y="2240280"/>
            <a:ext cx="822960" cy="822960"/>
          </a:xfrm>
          <a:prstGeom prst="roundRect">
            <a:avLst>
              <a:gd name="adj" fmla="val 22000"/>
            </a:avLst>
          </a:prstGeom>
          <a:solidFill>
            <a:srgbClr val="6D28D9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6852" y="2446020"/>
            <a:ext cx="411480" cy="41148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611112" y="3246120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ATT&amp;CK map</a:t>
            </a:r>
            <a:endParaRPr lang="en-US" sz="1450" dirty="0"/>
          </a:p>
        </p:txBody>
      </p:sp>
      <p:sp>
        <p:nvSpPr>
          <p:cNvPr id="21" name="Text 16"/>
          <p:cNvSpPr/>
          <p:nvPr/>
        </p:nvSpPr>
        <p:spPr>
          <a:xfrm>
            <a:off x="6611112" y="3977640"/>
            <a:ext cx="2057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C9C4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Techniques tagged end to end — feeds detection engineering &amp; purple teams.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9153144" y="1874520"/>
            <a:ext cx="2697480" cy="3657600"/>
          </a:xfrm>
          <a:prstGeom prst="rect">
            <a:avLst/>
          </a:prstGeom>
          <a:solidFill>
            <a:srgbClr val="1A1430"/>
          </a:solidFill>
          <a:ln w="12700">
            <a:solidFill>
              <a:srgbClr val="2A2348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9153144" y="1874520"/>
            <a:ext cx="2697480" cy="91440"/>
          </a:xfrm>
          <a:prstGeom prst="rect">
            <a:avLst/>
          </a:prstGeom>
          <a:solidFill>
            <a:srgbClr val="E11D48"/>
          </a:solidFill>
          <a:ln/>
        </p:spPr>
      </p:sp>
      <p:sp>
        <p:nvSpPr>
          <p:cNvPr id="24" name="Shape 19"/>
          <p:cNvSpPr/>
          <p:nvPr/>
        </p:nvSpPr>
        <p:spPr>
          <a:xfrm>
            <a:off x="9473184" y="2240280"/>
            <a:ext cx="822960" cy="822960"/>
          </a:xfrm>
          <a:prstGeom prst="roundRect">
            <a:avLst>
              <a:gd name="adj" fmla="val 22000"/>
            </a:avLst>
          </a:prstGeom>
          <a:solidFill>
            <a:srgbClr val="E11D48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78924" y="2446020"/>
            <a:ext cx="411480" cy="41148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9473184" y="3246120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response runbook</a:t>
            </a:r>
            <a:endParaRPr lang="en-US" sz="1450" dirty="0"/>
          </a:p>
        </p:txBody>
      </p:sp>
      <p:sp>
        <p:nvSpPr>
          <p:cNvPr id="27" name="Text 21"/>
          <p:cNvSpPr/>
          <p:nvPr/>
        </p:nvSpPr>
        <p:spPr>
          <a:xfrm>
            <a:off x="9473184" y="3977640"/>
            <a:ext cx="2057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C9C4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Ranked containment actions with exact commands — reusable next time.</a:t>
            </a:r>
            <a:endParaRPr lang="en-US" sz="1100" dirty="0"/>
          </a:p>
        </p:txBody>
      </p:sp>
      <p:sp>
        <p:nvSpPr>
          <p:cNvPr id="28" name="Text 22"/>
          <p:cNvSpPr/>
          <p:nvPr/>
        </p:nvSpPr>
        <p:spPr>
          <a:xfrm>
            <a:off x="566928" y="5760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PDF nobody re-read is now a queryable knowledge base. Next breach, the agent starts already knowing this one.</a:t>
            </a:r>
            <a:endParaRPr lang="en-US" sz="1200" dirty="0"/>
          </a:p>
        </p:txBody>
      </p:sp>
      <p:sp>
        <p:nvSpPr>
          <p:cNvPr id="29" name="Text 23"/>
          <p:cNvSpPr/>
          <p:nvPr/>
        </p:nvSpPr>
        <p:spPr>
          <a:xfrm>
            <a:off x="1123157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84A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11</a:t>
            </a:r>
            <a:endParaRPr lang="en-US" sz="1100" dirty="0"/>
          </a:p>
        </p:txBody>
      </p:sp>
      <p:sp>
        <p:nvSpPr>
          <p:cNvPr id="30" name="Text 24"/>
          <p:cNvSpPr/>
          <p:nvPr/>
        </p:nvSpPr>
        <p:spPr>
          <a:xfrm>
            <a:off x="548640" y="6355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8B8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 GROUP  ·  RED SPEARS LABS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E11D48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-1828800"/>
            <a:ext cx="5852160" cy="5852160"/>
          </a:xfrm>
          <a:prstGeom prst="ellipse">
            <a:avLst/>
          </a:prstGeom>
          <a:solidFill>
            <a:srgbClr val="6D28D9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21031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FB718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PART 02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68680" y="2560320"/>
            <a:ext cx="10058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Which tools to use — and how to wire them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914400" y="4206240"/>
            <a:ext cx="8778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AI is only as good as what it can see and touch. Here is the practical stack: enrichment, telemetry, reasoning, and action.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23157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84A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12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6355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8B8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 GROUP  ·  RED SPEARS LABS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D28D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IR TOOL STACK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0B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Four layers an AI responder needs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874520"/>
            <a:ext cx="110642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F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874520"/>
            <a:ext cx="91440" cy="960120"/>
          </a:xfrm>
          <a:prstGeom prst="rect">
            <a:avLst/>
          </a:prstGeom>
          <a:solidFill>
            <a:srgbClr val="6D28D9"/>
          </a:solidFill>
          <a:ln/>
        </p:spPr>
      </p:sp>
      <p:sp>
        <p:nvSpPr>
          <p:cNvPr id="6" name="Shape 4"/>
          <p:cNvSpPr/>
          <p:nvPr/>
        </p:nvSpPr>
        <p:spPr>
          <a:xfrm>
            <a:off x="868680" y="2057400"/>
            <a:ext cx="594360" cy="594360"/>
          </a:xfrm>
          <a:prstGeom prst="roundRect">
            <a:avLst>
              <a:gd name="adj" fmla="val 22000"/>
            </a:avLst>
          </a:prstGeom>
          <a:solidFill>
            <a:srgbClr val="6D28D9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7270" y="2205990"/>
            <a:ext cx="297180" cy="2971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91640" y="199339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6D28D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TELEMETRY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691640" y="235915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8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happened — the ground truth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572000" y="2057400"/>
            <a:ext cx="0" cy="594360"/>
          </a:xfrm>
          <a:prstGeom prst="line">
            <a:avLst/>
          </a:prstGeom>
          <a:noFill/>
          <a:ln w="12700">
            <a:solidFill>
              <a:srgbClr val="E3DFF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846320" y="1874520"/>
            <a:ext cx="6583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0E0B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CloudTrail · VPC Flow Logs · GuardDuty · Cortex XDR · SIEM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566928" y="2953512"/>
            <a:ext cx="11064240" cy="960120"/>
          </a:xfrm>
          <a:prstGeom prst="rect">
            <a:avLst/>
          </a:prstGeom>
          <a:solidFill>
            <a:srgbClr val="F4F2FA"/>
          </a:solidFill>
          <a:ln w="12700">
            <a:solidFill>
              <a:srgbClr val="E3DFF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66928" y="2953512"/>
            <a:ext cx="91440" cy="960120"/>
          </a:xfrm>
          <a:prstGeom prst="rect">
            <a:avLst/>
          </a:prstGeom>
          <a:solidFill>
            <a:srgbClr val="E11D48"/>
          </a:solidFill>
          <a:ln/>
        </p:spPr>
      </p:sp>
      <p:sp>
        <p:nvSpPr>
          <p:cNvPr id="14" name="Shape 11"/>
          <p:cNvSpPr/>
          <p:nvPr/>
        </p:nvSpPr>
        <p:spPr>
          <a:xfrm>
            <a:off x="868680" y="3136392"/>
            <a:ext cx="594360" cy="594360"/>
          </a:xfrm>
          <a:prstGeom prst="roundRect">
            <a:avLst>
              <a:gd name="adj" fmla="val 22000"/>
            </a:avLst>
          </a:prstGeom>
          <a:solidFill>
            <a:srgbClr val="E11D48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270" y="3284982"/>
            <a:ext cx="297180" cy="29718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691640" y="3072384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E11D4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ENRICHMENT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1691640" y="343814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8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this entity known-bad?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4572000" y="3136392"/>
            <a:ext cx="0" cy="594360"/>
          </a:xfrm>
          <a:prstGeom prst="line">
            <a:avLst/>
          </a:prstGeom>
          <a:noFill/>
          <a:ln w="12700">
            <a:solidFill>
              <a:srgbClr val="E3DFF0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4846320" y="2953512"/>
            <a:ext cx="6583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0E0B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VirusTotal · Shodan · AbuseIPDB · MalwareBazaar · YARA</a:t>
            </a:r>
            <a:endParaRPr lang="en-US" sz="1150" dirty="0"/>
          </a:p>
        </p:txBody>
      </p:sp>
      <p:sp>
        <p:nvSpPr>
          <p:cNvPr id="20" name="Shape 16"/>
          <p:cNvSpPr/>
          <p:nvPr/>
        </p:nvSpPr>
        <p:spPr>
          <a:xfrm>
            <a:off x="566928" y="4032504"/>
            <a:ext cx="110642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FF0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566928" y="4032504"/>
            <a:ext cx="91440" cy="960120"/>
          </a:xfrm>
          <a:prstGeom prst="rect">
            <a:avLst/>
          </a:prstGeom>
          <a:solidFill>
            <a:srgbClr val="6D28D9"/>
          </a:solidFill>
          <a:ln/>
        </p:spPr>
      </p:sp>
      <p:sp>
        <p:nvSpPr>
          <p:cNvPr id="22" name="Shape 18"/>
          <p:cNvSpPr/>
          <p:nvPr/>
        </p:nvSpPr>
        <p:spPr>
          <a:xfrm>
            <a:off x="868680" y="4215384"/>
            <a:ext cx="594360" cy="594360"/>
          </a:xfrm>
          <a:prstGeom prst="roundRect">
            <a:avLst>
              <a:gd name="adj" fmla="val 22000"/>
            </a:avLst>
          </a:prstGeom>
          <a:solidFill>
            <a:srgbClr val="6D28D9"/>
          </a:solidFill>
          <a:ln/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7270" y="4363974"/>
            <a:ext cx="297180" cy="29718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1691640" y="4151376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6D28D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REASONING</a:t>
            </a:r>
            <a:endParaRPr lang="en-US" sz="1400" dirty="0"/>
          </a:p>
        </p:txBody>
      </p:sp>
      <p:sp>
        <p:nvSpPr>
          <p:cNvPr id="25" name="Text 20"/>
          <p:cNvSpPr/>
          <p:nvPr/>
        </p:nvSpPr>
        <p:spPr>
          <a:xfrm>
            <a:off x="1691640" y="4517136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8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Correlate, hypothesize, narrate</a:t>
            </a:r>
            <a:endParaRPr lang="en-US" sz="1050" dirty="0"/>
          </a:p>
        </p:txBody>
      </p:sp>
      <p:sp>
        <p:nvSpPr>
          <p:cNvPr id="26" name="Shape 21"/>
          <p:cNvSpPr/>
          <p:nvPr/>
        </p:nvSpPr>
        <p:spPr>
          <a:xfrm>
            <a:off x="4572000" y="4215384"/>
            <a:ext cx="0" cy="594360"/>
          </a:xfrm>
          <a:prstGeom prst="line">
            <a:avLst/>
          </a:prstGeom>
          <a:noFill/>
          <a:ln w="12700">
            <a:solidFill>
              <a:srgbClr val="E3DFF0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4846320" y="4032504"/>
            <a:ext cx="6583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0E0B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LLM agent · attack-graph builder · MITRE ATT&amp;CK mapper</a:t>
            </a:r>
            <a:endParaRPr lang="en-US" sz="1150" dirty="0"/>
          </a:p>
        </p:txBody>
      </p:sp>
      <p:sp>
        <p:nvSpPr>
          <p:cNvPr id="28" name="Shape 23"/>
          <p:cNvSpPr/>
          <p:nvPr/>
        </p:nvSpPr>
        <p:spPr>
          <a:xfrm>
            <a:off x="566928" y="5111496"/>
            <a:ext cx="11064240" cy="960120"/>
          </a:xfrm>
          <a:prstGeom prst="rect">
            <a:avLst/>
          </a:prstGeom>
          <a:solidFill>
            <a:srgbClr val="F4F2FA"/>
          </a:solidFill>
          <a:ln w="12700">
            <a:solidFill>
              <a:srgbClr val="E3DFF0"/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566928" y="5111496"/>
            <a:ext cx="91440" cy="960120"/>
          </a:xfrm>
          <a:prstGeom prst="rect">
            <a:avLst/>
          </a:prstGeom>
          <a:solidFill>
            <a:srgbClr val="E11D48"/>
          </a:solidFill>
          <a:ln/>
        </p:spPr>
      </p:sp>
      <p:sp>
        <p:nvSpPr>
          <p:cNvPr id="30" name="Shape 25"/>
          <p:cNvSpPr/>
          <p:nvPr/>
        </p:nvSpPr>
        <p:spPr>
          <a:xfrm>
            <a:off x="868680" y="5294376"/>
            <a:ext cx="594360" cy="594360"/>
          </a:xfrm>
          <a:prstGeom prst="roundRect">
            <a:avLst>
              <a:gd name="adj" fmla="val 22000"/>
            </a:avLst>
          </a:prstGeom>
          <a:solidFill>
            <a:srgbClr val="E11D48"/>
          </a:solidFill>
          <a:ln/>
        </p:spPr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7270" y="5442966"/>
            <a:ext cx="297180" cy="297180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1691640" y="523036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E11D4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ACTION</a:t>
            </a:r>
            <a:endParaRPr lang="en-US" sz="1400" dirty="0"/>
          </a:p>
        </p:txBody>
      </p:sp>
      <p:sp>
        <p:nvSpPr>
          <p:cNvPr id="33" name="Text 27"/>
          <p:cNvSpPr/>
          <p:nvPr/>
        </p:nvSpPr>
        <p:spPr>
          <a:xfrm>
            <a:off x="1691640" y="559612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8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Contain, eradicate, recover</a:t>
            </a:r>
            <a:endParaRPr lang="en-US" sz="1050" dirty="0"/>
          </a:p>
        </p:txBody>
      </p:sp>
      <p:sp>
        <p:nvSpPr>
          <p:cNvPr id="34" name="Shape 28"/>
          <p:cNvSpPr/>
          <p:nvPr/>
        </p:nvSpPr>
        <p:spPr>
          <a:xfrm>
            <a:off x="4572000" y="5294376"/>
            <a:ext cx="0" cy="594360"/>
          </a:xfrm>
          <a:prstGeom prst="line">
            <a:avLst/>
          </a:prstGeom>
          <a:noFill/>
          <a:ln w="12700">
            <a:solidFill>
              <a:srgbClr val="E3DFF0"/>
            </a:solidFill>
            <a:prstDash val="solid"/>
          </a:ln>
        </p:spPr>
      </p:sp>
      <p:sp>
        <p:nvSpPr>
          <p:cNvPr id="35" name="Text 29"/>
          <p:cNvSpPr/>
          <p:nvPr/>
        </p:nvSpPr>
        <p:spPr>
          <a:xfrm>
            <a:off x="4846320" y="5111496"/>
            <a:ext cx="6583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0E0B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Cloud API calls · WAF / security groups · IAM policy engine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23157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84A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13</a:t>
            </a:r>
            <a:endParaRPr lang="en-US" sz="1100" dirty="0"/>
          </a:p>
        </p:txBody>
      </p:sp>
      <p:sp>
        <p:nvSpPr>
          <p:cNvPr id="37" name="Text 31"/>
          <p:cNvSpPr/>
          <p:nvPr/>
        </p:nvSpPr>
        <p:spPr>
          <a:xfrm>
            <a:off x="548640" y="6355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8B8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 GROUP  ·  RED SPEARS LABS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E0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78BF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HOW TO DO IT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reference architecture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1517904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C4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 become agent capabilities through one contract — a tool-use / MCP layer. The LLM orchestrates; the tools execute.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66928" y="2103120"/>
            <a:ext cx="11064240" cy="1207008"/>
          </a:xfrm>
          <a:prstGeom prst="rect">
            <a:avLst/>
          </a:prstGeom>
          <a:solidFill>
            <a:srgbClr val="1A1430"/>
          </a:solidFill>
          <a:ln w="12700">
            <a:solidFill>
              <a:srgbClr val="2A234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2103120"/>
            <a:ext cx="1005840" cy="1207008"/>
          </a:xfrm>
          <a:prstGeom prst="rect">
            <a:avLst/>
          </a:prstGeom>
          <a:solidFill>
            <a:srgbClr val="6D28D9"/>
          </a:solidFill>
          <a:ln/>
        </p:spPr>
      </p:sp>
      <p:sp>
        <p:nvSpPr>
          <p:cNvPr id="7" name="Text 5"/>
          <p:cNvSpPr/>
          <p:nvPr/>
        </p:nvSpPr>
        <p:spPr>
          <a:xfrm>
            <a:off x="566928" y="2103120"/>
            <a:ext cx="100584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783080" y="2249424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INPUTS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783080" y="2615184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C9C4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Telemetry &amp; enrichment APIs feed normalized signals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943600" y="2523744"/>
            <a:ext cx="1005840" cy="365760"/>
          </a:xfrm>
          <a:prstGeom prst="roundRect">
            <a:avLst>
              <a:gd name="adj" fmla="val 17500"/>
            </a:avLst>
          </a:prstGeom>
          <a:solidFill>
            <a:srgbClr val="0E0B1A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0" y="2523744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CloudTrail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7077456" y="2523744"/>
            <a:ext cx="930859" cy="365760"/>
          </a:xfrm>
          <a:prstGeom prst="roundRect">
            <a:avLst>
              <a:gd name="adj" fmla="val 17500"/>
            </a:avLst>
          </a:prstGeom>
          <a:solidFill>
            <a:srgbClr val="0E0B1A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077456" y="2523744"/>
            <a:ext cx="9308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GuardDuty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8136331" y="2523744"/>
            <a:ext cx="1005840" cy="365760"/>
          </a:xfrm>
          <a:prstGeom prst="roundRect">
            <a:avLst>
              <a:gd name="adj" fmla="val 17500"/>
            </a:avLst>
          </a:prstGeom>
          <a:solidFill>
            <a:srgbClr val="0E0B1A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36331" y="2523744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VirusTotal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9270187" y="2523744"/>
            <a:ext cx="705917" cy="365760"/>
          </a:xfrm>
          <a:prstGeom prst="roundRect">
            <a:avLst>
              <a:gd name="adj" fmla="val 17500"/>
            </a:avLst>
          </a:prstGeom>
          <a:solidFill>
            <a:srgbClr val="0E0B1A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270187" y="2523744"/>
            <a:ext cx="70591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Shodan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0104120" y="2523744"/>
            <a:ext cx="930859" cy="365760"/>
          </a:xfrm>
          <a:prstGeom prst="roundRect">
            <a:avLst>
              <a:gd name="adj" fmla="val 17500"/>
            </a:avLst>
          </a:prstGeom>
          <a:solidFill>
            <a:srgbClr val="0E0B1A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104120" y="2523744"/>
            <a:ext cx="9308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AbuseIPDB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66928" y="3474720"/>
            <a:ext cx="11064240" cy="1207008"/>
          </a:xfrm>
          <a:prstGeom prst="rect">
            <a:avLst/>
          </a:prstGeom>
          <a:solidFill>
            <a:srgbClr val="1A1430"/>
          </a:solidFill>
          <a:ln w="12700">
            <a:solidFill>
              <a:srgbClr val="2A234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66928" y="3474720"/>
            <a:ext cx="1005840" cy="1207008"/>
          </a:xfrm>
          <a:prstGeom prst="rect">
            <a:avLst/>
          </a:prstGeom>
          <a:solidFill>
            <a:srgbClr val="E11D48"/>
          </a:solidFill>
          <a:ln/>
        </p:spPr>
      </p:sp>
      <p:sp>
        <p:nvSpPr>
          <p:cNvPr id="22" name="Text 20"/>
          <p:cNvSpPr/>
          <p:nvPr/>
        </p:nvSpPr>
        <p:spPr>
          <a:xfrm>
            <a:off x="566928" y="3474720"/>
            <a:ext cx="100584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3400" dirty="0"/>
          </a:p>
        </p:txBody>
      </p:sp>
      <p:sp>
        <p:nvSpPr>
          <p:cNvPr id="23" name="Text 21"/>
          <p:cNvSpPr/>
          <p:nvPr/>
        </p:nvSpPr>
        <p:spPr>
          <a:xfrm>
            <a:off x="1783080" y="3621024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ORCHESTRATION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783080" y="3986784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C9C4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agent reasons over an MCP / tool-use contract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943600" y="3895344"/>
            <a:ext cx="555955" cy="365760"/>
          </a:xfrm>
          <a:prstGeom prst="roundRect">
            <a:avLst>
              <a:gd name="adj" fmla="val 17500"/>
            </a:avLst>
          </a:prstGeom>
          <a:solidFill>
            <a:srgbClr val="0E0B1A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43600" y="3895344"/>
            <a:ext cx="5559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627571" y="3895344"/>
            <a:ext cx="930859" cy="365760"/>
          </a:xfrm>
          <a:prstGeom prst="roundRect">
            <a:avLst>
              <a:gd name="adj" fmla="val 17500"/>
            </a:avLst>
          </a:prstGeom>
          <a:solidFill>
            <a:srgbClr val="0E0B1A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627571" y="3895344"/>
            <a:ext cx="9308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 tool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7686446" y="3895344"/>
            <a:ext cx="855878" cy="365760"/>
          </a:xfrm>
          <a:prstGeom prst="roundRect">
            <a:avLst>
              <a:gd name="adj" fmla="val 17500"/>
            </a:avLst>
          </a:prstGeom>
          <a:solidFill>
            <a:srgbClr val="0E0B1A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686446" y="3895344"/>
            <a:ext cx="8558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8670341" y="3895344"/>
            <a:ext cx="705917" cy="365760"/>
          </a:xfrm>
          <a:prstGeom prst="roundRect">
            <a:avLst>
              <a:gd name="adj" fmla="val 17500"/>
            </a:avLst>
          </a:prstGeom>
          <a:solidFill>
            <a:srgbClr val="0E0B1A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670341" y="3895344"/>
            <a:ext cx="70591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Expand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9504274" y="3895344"/>
            <a:ext cx="705917" cy="365760"/>
          </a:xfrm>
          <a:prstGeom prst="roundRect">
            <a:avLst>
              <a:gd name="adj" fmla="val 17500"/>
            </a:avLst>
          </a:prstGeom>
          <a:solidFill>
            <a:srgbClr val="0E0B1A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504274" y="3895344"/>
            <a:ext cx="70591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Decide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66928" y="4846320"/>
            <a:ext cx="11064240" cy="1207008"/>
          </a:xfrm>
          <a:prstGeom prst="rect">
            <a:avLst/>
          </a:prstGeom>
          <a:solidFill>
            <a:srgbClr val="1A1430"/>
          </a:solidFill>
          <a:ln w="12700">
            <a:solidFill>
              <a:srgbClr val="2A234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66928" y="4846320"/>
            <a:ext cx="1005840" cy="120700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7" name="Text 35"/>
          <p:cNvSpPr/>
          <p:nvPr/>
        </p:nvSpPr>
        <p:spPr>
          <a:xfrm>
            <a:off x="566928" y="4846320"/>
            <a:ext cx="100584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3400" dirty="0"/>
          </a:p>
        </p:txBody>
      </p:sp>
      <p:sp>
        <p:nvSpPr>
          <p:cNvPr id="38" name="Text 36"/>
          <p:cNvSpPr/>
          <p:nvPr/>
        </p:nvSpPr>
        <p:spPr>
          <a:xfrm>
            <a:off x="1783080" y="4992624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OUTPUTS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1783080" y="5358384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C9C4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Graph, narrative &amp; staged containment commands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5943600" y="5266944"/>
            <a:ext cx="1155802" cy="365760"/>
          </a:xfrm>
          <a:prstGeom prst="roundRect">
            <a:avLst>
              <a:gd name="adj" fmla="val 17500"/>
            </a:avLst>
          </a:prstGeom>
          <a:solidFill>
            <a:srgbClr val="0E0B1A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943600" y="5266944"/>
            <a:ext cx="115580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Attack graph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7227418" y="5266944"/>
            <a:ext cx="1005840" cy="365760"/>
          </a:xfrm>
          <a:prstGeom prst="roundRect">
            <a:avLst>
              <a:gd name="adj" fmla="val 17500"/>
            </a:avLst>
          </a:prstGeom>
          <a:solidFill>
            <a:srgbClr val="0E0B1A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227418" y="5266944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ATT&amp;CK map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8361274" y="5266944"/>
            <a:ext cx="780898" cy="365760"/>
          </a:xfrm>
          <a:prstGeom prst="roundRect">
            <a:avLst>
              <a:gd name="adj" fmla="val 17500"/>
            </a:avLst>
          </a:prstGeom>
          <a:solidFill>
            <a:srgbClr val="0E0B1A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361274" y="5266944"/>
            <a:ext cx="7808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Runbook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9270187" y="5266944"/>
            <a:ext cx="1230782" cy="365760"/>
          </a:xfrm>
          <a:prstGeom prst="roundRect">
            <a:avLst>
              <a:gd name="adj" fmla="val 17500"/>
            </a:avLst>
          </a:prstGeom>
          <a:solidFill>
            <a:srgbClr val="0E0B1A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9270187" y="5266944"/>
            <a:ext cx="123078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Approval gate</a:t>
            </a:r>
            <a:endParaRPr lang="en-US" sz="900" dirty="0"/>
          </a:p>
        </p:txBody>
      </p:sp>
      <p:pic>
        <p:nvPicPr>
          <p:cNvPr id="4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0" y="3364992"/>
            <a:ext cx="201168" cy="201168"/>
          </a:xfrm>
          <a:prstGeom prst="rect">
            <a:avLst/>
          </a:prstGeom>
        </p:spPr>
      </p:pic>
      <p:pic>
        <p:nvPicPr>
          <p:cNvPr id="4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4736592"/>
            <a:ext cx="201168" cy="201168"/>
          </a:xfrm>
          <a:prstGeom prst="rect">
            <a:avLst/>
          </a:prstGeom>
        </p:spPr>
      </p:pic>
      <p:sp>
        <p:nvSpPr>
          <p:cNvPr id="50" name="Text 46"/>
          <p:cNvSpPr/>
          <p:nvPr/>
        </p:nvSpPr>
        <p:spPr>
          <a:xfrm>
            <a:off x="1123157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84A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14</a:t>
            </a:r>
            <a:endParaRPr lang="en-US" sz="1100" dirty="0"/>
          </a:p>
        </p:txBody>
      </p:sp>
      <p:sp>
        <p:nvSpPr>
          <p:cNvPr id="51" name="Text 47"/>
          <p:cNvSpPr/>
          <p:nvPr/>
        </p:nvSpPr>
        <p:spPr>
          <a:xfrm>
            <a:off x="548640" y="6355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8B8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 GROUP  ·  RED SPEARS LABS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D28D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HOW TO CHOOSE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E0B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Pick the tool by the question you're asking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1920240"/>
            <a:ext cx="11064240" cy="768096"/>
          </a:xfrm>
          <a:prstGeom prst="rect">
            <a:avLst/>
          </a:prstGeom>
          <a:solidFill>
            <a:srgbClr val="F4F2FA"/>
          </a:solidFill>
          <a:ln w="12700">
            <a:solidFill>
              <a:srgbClr val="E3DF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920240"/>
            <a:ext cx="91440" cy="768096"/>
          </a:xfrm>
          <a:prstGeom prst="rect">
            <a:avLst/>
          </a:prstGeom>
          <a:solidFill>
            <a:srgbClr val="E11D48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920240"/>
            <a:ext cx="3657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11D4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?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234440" y="1920240"/>
            <a:ext cx="35204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0E0B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Is this IP / domain hostile?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846320" y="2057400"/>
            <a:ext cx="0" cy="493776"/>
          </a:xfrm>
          <a:prstGeom prst="line">
            <a:avLst/>
          </a:prstGeom>
          <a:noFill/>
          <a:ln w="12700">
            <a:solidFill>
              <a:srgbClr val="E3DF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0" y="1975104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E11D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AbuseIPDB · VirusTotal · Shodan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778240" y="1975104"/>
            <a:ext cx="2697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8B8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Reputation, open ports &amp; exposure in one query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66928" y="2798064"/>
            <a:ext cx="11064240" cy="768096"/>
          </a:xfrm>
          <a:prstGeom prst="rect">
            <a:avLst/>
          </a:prstGeom>
          <a:solidFill>
            <a:srgbClr val="F4F2FA"/>
          </a:solidFill>
          <a:ln w="12700">
            <a:solidFill>
              <a:srgbClr val="E3DF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" y="2798064"/>
            <a:ext cx="91440" cy="768096"/>
          </a:xfrm>
          <a:prstGeom prst="rect">
            <a:avLst/>
          </a:prstGeom>
          <a:solidFill>
            <a:srgbClr val="E11D48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2798064"/>
            <a:ext cx="3657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11D4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?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234440" y="2798064"/>
            <a:ext cx="35204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0E0B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Is this file / hash malware?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846320" y="2935224"/>
            <a:ext cx="0" cy="493776"/>
          </a:xfrm>
          <a:prstGeom prst="line">
            <a:avLst/>
          </a:prstGeom>
          <a:noFill/>
          <a:ln w="12700">
            <a:solidFill>
              <a:srgbClr val="E3DF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0" y="2852928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E11D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VirusTotal · MalwareBazaar · YARA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8778240" y="2852928"/>
            <a:ext cx="2697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8B8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Multi-engine verdict + rule-based family match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66928" y="3675888"/>
            <a:ext cx="11064240" cy="768096"/>
          </a:xfrm>
          <a:prstGeom prst="rect">
            <a:avLst/>
          </a:prstGeom>
          <a:solidFill>
            <a:srgbClr val="F4F2FA"/>
          </a:solidFill>
          <a:ln w="12700">
            <a:solidFill>
              <a:srgbClr val="E3DF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66928" y="3675888"/>
            <a:ext cx="91440" cy="768096"/>
          </a:xfrm>
          <a:prstGeom prst="rect">
            <a:avLst/>
          </a:prstGeom>
          <a:solidFill>
            <a:srgbClr val="6D28D9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3675888"/>
            <a:ext cx="3657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D28D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?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234440" y="3675888"/>
            <a:ext cx="35204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0E0B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did the identity do?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846320" y="3813048"/>
            <a:ext cx="0" cy="493776"/>
          </a:xfrm>
          <a:prstGeom prst="line">
            <a:avLst/>
          </a:prstGeom>
          <a:noFill/>
          <a:ln w="12700">
            <a:solidFill>
              <a:srgbClr val="E3DF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0" y="3730752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6D28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CloudTrail · cloud audit logs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8778240" y="3730752"/>
            <a:ext cx="2697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8B8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API call history per key, user &amp; role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66928" y="4553712"/>
            <a:ext cx="11064240" cy="768096"/>
          </a:xfrm>
          <a:prstGeom prst="rect">
            <a:avLst/>
          </a:prstGeom>
          <a:solidFill>
            <a:srgbClr val="F4F2FA"/>
          </a:solidFill>
          <a:ln w="12700">
            <a:solidFill>
              <a:srgbClr val="E3DF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66928" y="4553712"/>
            <a:ext cx="91440" cy="768096"/>
          </a:xfrm>
          <a:prstGeom prst="rect">
            <a:avLst/>
          </a:prstGeom>
          <a:solidFill>
            <a:srgbClr val="6D28D9"/>
          </a:solidFill>
          <a:ln/>
        </p:spPr>
      </p:sp>
      <p:sp>
        <p:nvSpPr>
          <p:cNvPr id="27" name="Text 25"/>
          <p:cNvSpPr/>
          <p:nvPr/>
        </p:nvSpPr>
        <p:spPr>
          <a:xfrm>
            <a:off x="777240" y="4553712"/>
            <a:ext cx="3657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D28D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?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1234440" y="4553712"/>
            <a:ext cx="35204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0E0B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Did it move host to host?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4846320" y="4690872"/>
            <a:ext cx="0" cy="493776"/>
          </a:xfrm>
          <a:prstGeom prst="line">
            <a:avLst/>
          </a:prstGeom>
          <a:noFill/>
          <a:ln w="12700">
            <a:solidFill>
              <a:srgbClr val="E3DF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0" y="4608576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6D28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VPC Flow Logs · Cortex XDR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8778240" y="4608576"/>
            <a:ext cx="2697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8B8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East-west traffic + endpoint process context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566928" y="5431536"/>
            <a:ext cx="11064240" cy="768096"/>
          </a:xfrm>
          <a:prstGeom prst="rect">
            <a:avLst/>
          </a:prstGeom>
          <a:solidFill>
            <a:srgbClr val="F4F2FA"/>
          </a:solidFill>
          <a:ln w="12700">
            <a:solidFill>
              <a:srgbClr val="E3DF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66928" y="5431536"/>
            <a:ext cx="91440" cy="76809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4" name="Text 32"/>
          <p:cNvSpPr/>
          <p:nvPr/>
        </p:nvSpPr>
        <p:spPr>
          <a:xfrm>
            <a:off x="777240" y="5431536"/>
            <a:ext cx="3657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?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1234440" y="5431536"/>
            <a:ext cx="35204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0E0B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What's the story &amp; next step?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4846320" y="5568696"/>
            <a:ext cx="0" cy="493776"/>
          </a:xfrm>
          <a:prstGeom prst="line">
            <a:avLst/>
          </a:prstGeom>
          <a:noFill/>
          <a:ln w="12700">
            <a:solidFill>
              <a:srgbClr val="E3DF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29200" y="5486400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LLM agent + ATT&amp;CK mapper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8778240" y="5486400"/>
            <a:ext cx="2697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8B8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Correlation, narrative &amp; ranked containment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1123157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84A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15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48640" y="6355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8B8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 GROUP  ·  RED SPEARS LABS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E0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78BF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AGENT'S OPERATING CONTRACT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9552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It all starts with the system prompt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137160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C9C4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prompt tells the agent to begin at Point A and validate forward — never assume, always confirm. A full template ships with the repo.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66928" y="2148840"/>
            <a:ext cx="6903720" cy="3977640"/>
          </a:xfrm>
          <a:prstGeom prst="rect">
            <a:avLst/>
          </a:prstGeom>
          <a:solidFill>
            <a:srgbClr val="120E26"/>
          </a:solidFill>
          <a:ln w="12700">
            <a:solidFill>
              <a:srgbClr val="2A234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2148840"/>
            <a:ext cx="6903720" cy="384048"/>
          </a:xfrm>
          <a:prstGeom prst="rect">
            <a:avLst/>
          </a:prstGeom>
          <a:solidFill>
            <a:srgbClr val="2A2348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14884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ir-agent.system.md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77240" y="2697480"/>
            <a:ext cx="6492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B71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ROLE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777240" y="2903220"/>
            <a:ext cx="6492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7D2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You are an incident-response analyst agent.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77240" y="3108960"/>
            <a:ext cx="6492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7D2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777240" y="3314700"/>
            <a:ext cx="6492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B71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PRIME DIRECTIVE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777240" y="3520440"/>
            <a:ext cx="6492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7D2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 from the single triggering signal (Point A).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777240" y="3726180"/>
            <a:ext cx="6492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7D2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Validate every claim with TWO independent sources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777240" y="3931920"/>
            <a:ext cx="6492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7D2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before treating it as fact. Never assume intent.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777240" y="4137660"/>
            <a:ext cx="6492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7D2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777240" y="4343400"/>
            <a:ext cx="6492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B71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LOOP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777240" y="4549140"/>
            <a:ext cx="6492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7D2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observe -&gt; enrich -&gt; validate -&gt; expand -&gt; repeat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777240" y="4754880"/>
            <a:ext cx="6492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7D2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Each confirmed entity becomes the next Point A.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777240" y="4960620"/>
            <a:ext cx="6492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7D2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777240" y="5166360"/>
            <a:ext cx="6492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B71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CONSTRAINTS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777240" y="5372100"/>
            <a:ext cx="6492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7D2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No destructive action without human approval.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777240" y="5577840"/>
            <a:ext cx="6492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7D2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Cite the log/source for every node you assert.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777240" y="5783580"/>
            <a:ext cx="6492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7D2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Map each step to MITRE ATT&amp;CK.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7726680" y="219456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Why this design holds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7726680" y="2743200"/>
            <a:ext cx="530352" cy="530352"/>
          </a:xfrm>
          <a:prstGeom prst="roundRect">
            <a:avLst>
              <a:gd name="adj" fmla="val 22000"/>
            </a:avLst>
          </a:prstGeom>
          <a:solidFill>
            <a:srgbClr val="6D28D9"/>
          </a:solidFill>
          <a:ln/>
        </p:spPr>
      </p:sp>
      <p:pic>
        <p:nvPicPr>
          <p:cNvPr id="2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59268" y="2875788"/>
            <a:ext cx="265176" cy="265176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8412480" y="274320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Bounded start</a:t>
            </a:r>
            <a:endParaRPr lang="en-US" sz="1150" dirty="0"/>
          </a:p>
        </p:txBody>
      </p:sp>
      <p:sp>
        <p:nvSpPr>
          <p:cNvPr id="28" name="Text 25"/>
          <p:cNvSpPr/>
          <p:nvPr/>
        </p:nvSpPr>
        <p:spPr>
          <a:xfrm>
            <a:off x="8412480" y="3017520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C9C4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blank page — one signal anchors the whole investigation.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7726680" y="3593592"/>
            <a:ext cx="530352" cy="530352"/>
          </a:xfrm>
          <a:prstGeom prst="roundRect">
            <a:avLst>
              <a:gd name="adj" fmla="val 22000"/>
            </a:avLst>
          </a:prstGeom>
          <a:solidFill>
            <a:srgbClr val="E11D48"/>
          </a:solidFill>
          <a:ln/>
        </p:spPr>
      </p:sp>
      <p:pic>
        <p:nvPicPr>
          <p:cNvPr id="3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59268" y="3726180"/>
            <a:ext cx="265176" cy="265176"/>
          </a:xfrm>
          <a:prstGeom prst="rect">
            <a:avLst/>
          </a:prstGeom>
        </p:spPr>
      </p:pic>
      <p:sp>
        <p:nvSpPr>
          <p:cNvPr id="31" name="Text 27"/>
          <p:cNvSpPr/>
          <p:nvPr/>
        </p:nvSpPr>
        <p:spPr>
          <a:xfrm>
            <a:off x="8412480" y="3593592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Forced validation</a:t>
            </a:r>
            <a:endParaRPr lang="en-US" sz="1150" dirty="0"/>
          </a:p>
        </p:txBody>
      </p:sp>
      <p:sp>
        <p:nvSpPr>
          <p:cNvPr id="32" name="Text 28"/>
          <p:cNvSpPr/>
          <p:nvPr/>
        </p:nvSpPr>
        <p:spPr>
          <a:xfrm>
            <a:off x="8412480" y="3867912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C9C4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Two-source rule kills false positives and analyst bias.</a:t>
            </a:r>
            <a:endParaRPr lang="en-US" sz="950" dirty="0"/>
          </a:p>
        </p:txBody>
      </p:sp>
      <p:sp>
        <p:nvSpPr>
          <p:cNvPr id="33" name="Shape 29"/>
          <p:cNvSpPr/>
          <p:nvPr/>
        </p:nvSpPr>
        <p:spPr>
          <a:xfrm>
            <a:off x="7726680" y="4443984"/>
            <a:ext cx="530352" cy="530352"/>
          </a:xfrm>
          <a:prstGeom prst="roundRect">
            <a:avLst>
              <a:gd name="adj" fmla="val 22000"/>
            </a:avLst>
          </a:prstGeom>
          <a:solidFill>
            <a:srgbClr val="6D28D9"/>
          </a:solidFill>
          <a:ln/>
        </p:spPr>
      </p:sp>
      <p:pic>
        <p:nvPicPr>
          <p:cNvPr id="3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9268" y="4576572"/>
            <a:ext cx="265176" cy="265176"/>
          </a:xfrm>
          <a:prstGeom prst="rect">
            <a:avLst/>
          </a:prstGeom>
        </p:spPr>
      </p:pic>
      <p:sp>
        <p:nvSpPr>
          <p:cNvPr id="35" name="Text 30"/>
          <p:cNvSpPr/>
          <p:nvPr/>
        </p:nvSpPr>
        <p:spPr>
          <a:xfrm>
            <a:off x="8412480" y="4443984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Self-extending</a:t>
            </a:r>
            <a:endParaRPr lang="en-US" sz="1150" dirty="0"/>
          </a:p>
        </p:txBody>
      </p:sp>
      <p:sp>
        <p:nvSpPr>
          <p:cNvPr id="36" name="Text 31"/>
          <p:cNvSpPr/>
          <p:nvPr/>
        </p:nvSpPr>
        <p:spPr>
          <a:xfrm>
            <a:off x="8412480" y="4718304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C9C4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proven entity reseeds the loop until the path is whole.</a:t>
            </a:r>
            <a:endParaRPr lang="en-US" sz="950" dirty="0"/>
          </a:p>
        </p:txBody>
      </p:sp>
      <p:sp>
        <p:nvSpPr>
          <p:cNvPr id="37" name="Shape 32"/>
          <p:cNvSpPr/>
          <p:nvPr/>
        </p:nvSpPr>
        <p:spPr>
          <a:xfrm>
            <a:off x="7726680" y="5294376"/>
            <a:ext cx="530352" cy="530352"/>
          </a:xfrm>
          <a:prstGeom prst="roundRect">
            <a:avLst>
              <a:gd name="adj" fmla="val 22000"/>
            </a:avLst>
          </a:prstGeom>
          <a:solidFill>
            <a:srgbClr val="E11D48"/>
          </a:solidFill>
          <a:ln/>
        </p:spPr>
      </p:sp>
      <p:pic>
        <p:nvPicPr>
          <p:cNvPr id="3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59268" y="5426964"/>
            <a:ext cx="265176" cy="265176"/>
          </a:xfrm>
          <a:prstGeom prst="rect">
            <a:avLst/>
          </a:prstGeom>
        </p:spPr>
      </p:pic>
      <p:sp>
        <p:nvSpPr>
          <p:cNvPr id="39" name="Text 33"/>
          <p:cNvSpPr/>
          <p:nvPr/>
        </p:nvSpPr>
        <p:spPr>
          <a:xfrm>
            <a:off x="8412480" y="5294376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Safe by default</a:t>
            </a:r>
            <a:endParaRPr lang="en-US" sz="1150" dirty="0"/>
          </a:p>
        </p:txBody>
      </p:sp>
      <p:sp>
        <p:nvSpPr>
          <p:cNvPr id="40" name="Text 34"/>
          <p:cNvSpPr/>
          <p:nvPr/>
        </p:nvSpPr>
        <p:spPr>
          <a:xfrm>
            <a:off x="8412480" y="5568696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C9C4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Containment is staged, never auto-fired — human approves.</a:t>
            </a:r>
            <a:endParaRPr lang="en-US" sz="950" dirty="0"/>
          </a:p>
        </p:txBody>
      </p:sp>
      <p:sp>
        <p:nvSpPr>
          <p:cNvPr id="41" name="Text 35"/>
          <p:cNvSpPr/>
          <p:nvPr/>
        </p:nvSpPr>
        <p:spPr>
          <a:xfrm>
            <a:off x="1123157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84A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16</a:t>
            </a:r>
            <a:endParaRPr lang="en-US" sz="1100" dirty="0"/>
          </a:p>
        </p:txBody>
      </p:sp>
      <p:sp>
        <p:nvSpPr>
          <p:cNvPr id="42" name="Text 36"/>
          <p:cNvSpPr/>
          <p:nvPr/>
        </p:nvSpPr>
        <p:spPr>
          <a:xfrm>
            <a:off x="548640" y="6355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8B8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 GROUP  ·  RED SPEARS LABS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20E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3108960"/>
            <a:ext cx="5852160" cy="5852160"/>
          </a:xfrm>
          <a:prstGeom prst="ellipse">
            <a:avLst/>
          </a:prstGeom>
          <a:solidFill>
            <a:srgbClr val="6D28D9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1874520"/>
            <a:ext cx="914400" cy="914400"/>
          </a:xfrm>
          <a:prstGeom prst="roundRect">
            <a:avLst>
              <a:gd name="adj" fmla="val 22000"/>
            </a:avLst>
          </a:prstGeom>
          <a:solidFill>
            <a:srgbClr val="6D28D9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210312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29718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PART 03  ·  LIVE RELEASE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68680" y="338328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2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We're open-sourcing the toolkit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457200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Everything you've seen — the enrichment agents, the attack-graph builder, the system prompt — released free for the LATAM security community.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123157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84A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17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48640" y="6355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8B8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 GROUP  ·  RED SPEARS LABS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D28D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GITHUB.COM/DEVEL-GROUP/AI-INCIDENT-RESPONSE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0B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ships in the repository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828800"/>
            <a:ext cx="361188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FF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66928" y="1828800"/>
            <a:ext cx="3611880" cy="73152"/>
          </a:xfrm>
          <a:prstGeom prst="rect">
            <a:avLst/>
          </a:prstGeom>
          <a:solidFill>
            <a:srgbClr val="E11D48"/>
          </a:solidFill>
          <a:ln/>
        </p:spPr>
      </p:sp>
      <p:sp>
        <p:nvSpPr>
          <p:cNvPr id="6" name="Shape 4"/>
          <p:cNvSpPr/>
          <p:nvPr/>
        </p:nvSpPr>
        <p:spPr>
          <a:xfrm>
            <a:off x="841248" y="2084832"/>
            <a:ext cx="566928" cy="566928"/>
          </a:xfrm>
          <a:prstGeom prst="roundRect">
            <a:avLst>
              <a:gd name="adj" fmla="val 22000"/>
            </a:avLst>
          </a:prstGeom>
          <a:solidFill>
            <a:srgbClr val="E11D48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" y="2226564"/>
            <a:ext cx="283464" cy="28346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27048" y="2084832"/>
            <a:ext cx="2423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300" b="1" dirty="0">
                <a:solidFill>
                  <a:srgbClr val="0E0B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Enrichment agents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41248" y="274320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8B8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Dockerized recon &amp; IOC agents wrapping VirusTotal, Shodan, AbuseIPDB, MalwareBazaar &amp; YARA.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297680" y="1828800"/>
            <a:ext cx="361188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FF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297680" y="1828800"/>
            <a:ext cx="3611880" cy="73152"/>
          </a:xfrm>
          <a:prstGeom prst="rect">
            <a:avLst/>
          </a:prstGeom>
          <a:solidFill>
            <a:srgbClr val="6D28D9"/>
          </a:solidFill>
          <a:ln/>
        </p:spPr>
      </p:sp>
      <p:sp>
        <p:nvSpPr>
          <p:cNvPr id="12" name="Shape 9"/>
          <p:cNvSpPr/>
          <p:nvPr/>
        </p:nvSpPr>
        <p:spPr>
          <a:xfrm>
            <a:off x="4572000" y="2084832"/>
            <a:ext cx="566928" cy="566928"/>
          </a:xfrm>
          <a:prstGeom prst="roundRect">
            <a:avLst>
              <a:gd name="adj" fmla="val 22000"/>
            </a:avLst>
          </a:prstGeom>
          <a:solidFill>
            <a:srgbClr val="6D28D9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3732" y="2226564"/>
            <a:ext cx="283464" cy="28346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257800" y="2084832"/>
            <a:ext cx="2423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300" b="1" dirty="0">
                <a:solidFill>
                  <a:srgbClr val="0E0B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Attack-graph builder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4572000" y="274320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8B8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Turns CloudTrail &amp; flow logs into a causal graph, auto-mapped to MITRE ATT&amp;CK.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8028432" y="1828800"/>
            <a:ext cx="361188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FF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028432" y="1828800"/>
            <a:ext cx="3611880" cy="73152"/>
          </a:xfrm>
          <a:prstGeom prst="rect">
            <a:avLst/>
          </a:prstGeom>
          <a:solidFill>
            <a:srgbClr val="E11D48"/>
          </a:solidFill>
          <a:ln/>
        </p:spPr>
      </p:sp>
      <p:sp>
        <p:nvSpPr>
          <p:cNvPr id="18" name="Shape 14"/>
          <p:cNvSpPr/>
          <p:nvPr/>
        </p:nvSpPr>
        <p:spPr>
          <a:xfrm>
            <a:off x="8302752" y="2084832"/>
            <a:ext cx="566928" cy="566928"/>
          </a:xfrm>
          <a:prstGeom prst="roundRect">
            <a:avLst>
              <a:gd name="adj" fmla="val 22000"/>
            </a:avLst>
          </a:prstGeom>
          <a:solidFill>
            <a:srgbClr val="E11D48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4484" y="2226564"/>
            <a:ext cx="283464" cy="28346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988552" y="2084832"/>
            <a:ext cx="2423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300" b="1" dirty="0">
                <a:solidFill>
                  <a:srgbClr val="0E0B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System prompt templates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8302752" y="274320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8B8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IR-agent operating contract — Point-A start, two-source validation, safe containment.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566928" y="3776472"/>
            <a:ext cx="361188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FF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0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566928" y="3776472"/>
            <a:ext cx="3611880" cy="73152"/>
          </a:xfrm>
          <a:prstGeom prst="rect">
            <a:avLst/>
          </a:prstGeom>
          <a:solidFill>
            <a:srgbClr val="6D28D9"/>
          </a:solidFill>
          <a:ln/>
        </p:spPr>
      </p:sp>
      <p:sp>
        <p:nvSpPr>
          <p:cNvPr id="24" name="Shape 19"/>
          <p:cNvSpPr/>
          <p:nvPr/>
        </p:nvSpPr>
        <p:spPr>
          <a:xfrm>
            <a:off x="841248" y="4032504"/>
            <a:ext cx="566928" cy="566928"/>
          </a:xfrm>
          <a:prstGeom prst="roundRect">
            <a:avLst>
              <a:gd name="adj" fmla="val 22000"/>
            </a:avLst>
          </a:prstGeom>
          <a:solidFill>
            <a:srgbClr val="6D28D9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2980" y="4174236"/>
            <a:ext cx="283464" cy="283464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527048" y="4032504"/>
            <a:ext cx="2423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300" b="1" dirty="0">
                <a:solidFill>
                  <a:srgbClr val="0E0B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MCP tool connectors</a:t>
            </a:r>
            <a:endParaRPr lang="en-US" sz="1300" dirty="0"/>
          </a:p>
        </p:txBody>
      </p:sp>
      <p:sp>
        <p:nvSpPr>
          <p:cNvPr id="27" name="Text 21"/>
          <p:cNvSpPr/>
          <p:nvPr/>
        </p:nvSpPr>
        <p:spPr>
          <a:xfrm>
            <a:off x="841248" y="4690872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8B8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Drop-in tool-use definitions so any LLM agent can call the stack.</a:t>
            </a:r>
            <a:endParaRPr lang="en-US" sz="1000" dirty="0"/>
          </a:p>
        </p:txBody>
      </p:sp>
      <p:sp>
        <p:nvSpPr>
          <p:cNvPr id="28" name="Shape 22"/>
          <p:cNvSpPr/>
          <p:nvPr/>
        </p:nvSpPr>
        <p:spPr>
          <a:xfrm>
            <a:off x="4297680" y="3776472"/>
            <a:ext cx="361188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FF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0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4297680" y="3776472"/>
            <a:ext cx="3611880" cy="731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0" name="Shape 24"/>
          <p:cNvSpPr/>
          <p:nvPr/>
        </p:nvSpPr>
        <p:spPr>
          <a:xfrm>
            <a:off x="4572000" y="4032504"/>
            <a:ext cx="566928" cy="566928"/>
          </a:xfrm>
          <a:prstGeom prst="roundRect">
            <a:avLst>
              <a:gd name="adj" fmla="val 22000"/>
            </a:avLst>
          </a:prstGeom>
          <a:solidFill>
            <a:srgbClr val="F59E0B"/>
          </a:solidFill>
          <a:ln/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13732" y="4174236"/>
            <a:ext cx="283464" cy="283464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5257800" y="4032504"/>
            <a:ext cx="2423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300" b="1" dirty="0">
                <a:solidFill>
                  <a:srgbClr val="0E0B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Containment runbooks</a:t>
            </a:r>
            <a:endParaRPr lang="en-US" sz="1300" dirty="0"/>
          </a:p>
        </p:txBody>
      </p:sp>
      <p:sp>
        <p:nvSpPr>
          <p:cNvPr id="33" name="Text 26"/>
          <p:cNvSpPr/>
          <p:nvPr/>
        </p:nvSpPr>
        <p:spPr>
          <a:xfrm>
            <a:off x="4572000" y="4690872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8B8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Ranked, parameterized response actions with approval gates baked in.</a:t>
            </a:r>
            <a:endParaRPr lang="en-US" sz="1000" dirty="0"/>
          </a:p>
        </p:txBody>
      </p:sp>
      <p:sp>
        <p:nvSpPr>
          <p:cNvPr id="34" name="Shape 27"/>
          <p:cNvSpPr/>
          <p:nvPr/>
        </p:nvSpPr>
        <p:spPr>
          <a:xfrm>
            <a:off x="8028432" y="3776472"/>
            <a:ext cx="361188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FF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0000"/>
              </a:srgbClr>
            </a:outerShdw>
          </a:effectLst>
        </p:spPr>
      </p:sp>
      <p:sp>
        <p:nvSpPr>
          <p:cNvPr id="35" name="Shape 28"/>
          <p:cNvSpPr/>
          <p:nvPr/>
        </p:nvSpPr>
        <p:spPr>
          <a:xfrm>
            <a:off x="8028432" y="3776472"/>
            <a:ext cx="3611880" cy="7315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6" name="Shape 29"/>
          <p:cNvSpPr/>
          <p:nvPr/>
        </p:nvSpPr>
        <p:spPr>
          <a:xfrm>
            <a:off x="8302752" y="4032504"/>
            <a:ext cx="566928" cy="566928"/>
          </a:xfrm>
          <a:prstGeom prst="roundRect">
            <a:avLst>
              <a:gd name="adj" fmla="val 22000"/>
            </a:avLst>
          </a:prstGeom>
          <a:solidFill>
            <a:srgbClr val="10B981"/>
          </a:solidFill>
          <a:ln/>
        </p:spPr>
      </p:sp>
      <p:pic>
        <p:nvPicPr>
          <p:cNvPr id="3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44484" y="4174236"/>
            <a:ext cx="283464" cy="283464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8988552" y="4032504"/>
            <a:ext cx="2423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300" b="1" dirty="0">
                <a:solidFill>
                  <a:srgbClr val="0E0B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Sample telemetry</a:t>
            </a:r>
            <a:endParaRPr lang="en-US" sz="1300" dirty="0"/>
          </a:p>
        </p:txBody>
      </p:sp>
      <p:sp>
        <p:nvSpPr>
          <p:cNvPr id="39" name="Text 31"/>
          <p:cNvSpPr/>
          <p:nvPr/>
        </p:nvSpPr>
        <p:spPr>
          <a:xfrm>
            <a:off x="8302752" y="4690872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8B8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safe, synthetic breach dataset to test and demo the whole pipeline.</a:t>
            </a:r>
            <a:endParaRPr lang="en-US" sz="1000" dirty="0"/>
          </a:p>
        </p:txBody>
      </p:sp>
      <p:sp>
        <p:nvSpPr>
          <p:cNvPr id="40" name="Text 32"/>
          <p:cNvSpPr/>
          <p:nvPr/>
        </p:nvSpPr>
        <p:spPr>
          <a:xfrm>
            <a:off x="1123157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84A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18</a:t>
            </a:r>
            <a:endParaRPr lang="en-US" sz="1100" dirty="0"/>
          </a:p>
        </p:txBody>
      </p:sp>
      <p:sp>
        <p:nvSpPr>
          <p:cNvPr id="41" name="Text 33"/>
          <p:cNvSpPr/>
          <p:nvPr/>
        </p:nvSpPr>
        <p:spPr>
          <a:xfrm>
            <a:off x="548640" y="6355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8B8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 GROUP  ·  RED SPEARS LABS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E0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78BF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GET STARTED IN MINUTES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1338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Three commands to your first reconstruction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66928" y="1828800"/>
            <a:ext cx="6766560" cy="3108960"/>
          </a:xfrm>
          <a:prstGeom prst="rect">
            <a:avLst/>
          </a:prstGeom>
          <a:solidFill>
            <a:srgbClr val="120E26"/>
          </a:solidFill>
          <a:ln w="12700">
            <a:solidFill>
              <a:srgbClr val="2A234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828800"/>
            <a:ext cx="6766560" cy="384048"/>
          </a:xfrm>
          <a:prstGeom prst="rect">
            <a:avLst/>
          </a:prstGeom>
          <a:solidFill>
            <a:srgbClr val="2A2348"/>
          </a:solidFill>
          <a:ln/>
        </p:spPr>
      </p:sp>
      <p:sp>
        <p:nvSpPr>
          <p:cNvPr id="6" name="Shape 4"/>
          <p:cNvSpPr/>
          <p:nvPr/>
        </p:nvSpPr>
        <p:spPr>
          <a:xfrm>
            <a:off x="868680" y="1947672"/>
            <a:ext cx="146304" cy="146304"/>
          </a:xfrm>
          <a:prstGeom prst="ellipse">
            <a:avLst/>
          </a:prstGeom>
          <a:solidFill>
            <a:srgbClr val="E11D48"/>
          </a:solidFill>
          <a:ln/>
        </p:spPr>
      </p:sp>
      <p:sp>
        <p:nvSpPr>
          <p:cNvPr id="7" name="Shape 5"/>
          <p:cNvSpPr/>
          <p:nvPr/>
        </p:nvSpPr>
        <p:spPr>
          <a:xfrm>
            <a:off x="1097280" y="1947672"/>
            <a:ext cx="146304" cy="146304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8" name="Shape 6"/>
          <p:cNvSpPr/>
          <p:nvPr/>
        </p:nvSpPr>
        <p:spPr>
          <a:xfrm>
            <a:off x="1325880" y="1947672"/>
            <a:ext cx="146304" cy="146304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9" name="Text 7"/>
          <p:cNvSpPr/>
          <p:nvPr/>
        </p:nvSpPr>
        <p:spPr>
          <a:xfrm>
            <a:off x="1600200" y="182880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84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terminal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77240" y="2423160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clone github.com/devel-group/ai-incident-response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77240" y="2692908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84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cloning toolkit + sample telemetry...        done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77240" y="2962656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C4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77240" y="3232404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docker compose up -d enrichment-agents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77240" y="3502152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84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virustotal · shodan · abuseipdb · yara       ready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77240" y="3771900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C4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77240" y="4041648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ir-agent investigate --signal alerts/point-a.json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77240" y="4311396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validating... expanding... mapping ATT&amp;CK...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77240" y="4581144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attack path reconstructed -&gt; report.html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635240" y="187452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you get back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7635240" y="2423160"/>
            <a:ext cx="502920" cy="502920"/>
          </a:xfrm>
          <a:prstGeom prst="roundRect">
            <a:avLst>
              <a:gd name="adj" fmla="val 22000"/>
            </a:avLst>
          </a:prstGeom>
          <a:solidFill>
            <a:srgbClr val="6D28D9"/>
          </a:solidFill>
          <a:ln/>
        </p:spPr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60970" y="2548890"/>
            <a:ext cx="251460" cy="251460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8302752" y="242316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50" dirty="0">
                <a:solidFill>
                  <a:srgbClr val="C9C4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interactive attack-graph report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7635240" y="3081528"/>
            <a:ext cx="502920" cy="502920"/>
          </a:xfrm>
          <a:prstGeom prst="roundRect">
            <a:avLst>
              <a:gd name="adj" fmla="val 22000"/>
            </a:avLst>
          </a:prstGeom>
          <a:solidFill>
            <a:srgbClr val="E11D48"/>
          </a:solidFill>
          <a:ln/>
        </p:spPr>
      </p:sp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60970" y="3207258"/>
            <a:ext cx="251460" cy="251460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8302752" y="3081528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50" dirty="0">
                <a:solidFill>
                  <a:srgbClr val="C9C4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MITRE ATT&amp;CK coverage map</a:t>
            </a:r>
            <a:endParaRPr lang="en-US" sz="1150" dirty="0"/>
          </a:p>
        </p:txBody>
      </p:sp>
      <p:sp>
        <p:nvSpPr>
          <p:cNvPr id="26" name="Shape 22"/>
          <p:cNvSpPr/>
          <p:nvPr/>
        </p:nvSpPr>
        <p:spPr>
          <a:xfrm>
            <a:off x="7635240" y="3739896"/>
            <a:ext cx="502920" cy="502920"/>
          </a:xfrm>
          <a:prstGeom prst="roundRect">
            <a:avLst>
              <a:gd name="adj" fmla="val 22000"/>
            </a:avLst>
          </a:prstGeom>
          <a:solidFill>
            <a:srgbClr val="6D28D9"/>
          </a:solidFill>
          <a:ln/>
        </p:spPr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60970" y="3865626"/>
            <a:ext cx="251460" cy="251460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8302752" y="3739896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50" dirty="0">
                <a:solidFill>
                  <a:srgbClr val="C9C4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ranked containment runbook</a:t>
            </a:r>
            <a:endParaRPr lang="en-US" sz="1150" dirty="0"/>
          </a:p>
        </p:txBody>
      </p:sp>
      <p:sp>
        <p:nvSpPr>
          <p:cNvPr id="29" name="Shape 24"/>
          <p:cNvSpPr/>
          <p:nvPr/>
        </p:nvSpPr>
        <p:spPr>
          <a:xfrm>
            <a:off x="7635240" y="4398264"/>
            <a:ext cx="502920" cy="502920"/>
          </a:xfrm>
          <a:prstGeom prst="roundRect">
            <a:avLst>
              <a:gd name="adj" fmla="val 22000"/>
            </a:avLst>
          </a:prstGeom>
          <a:solidFill>
            <a:srgbClr val="E11D48"/>
          </a:solidFill>
          <a:ln/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60970" y="4523994"/>
            <a:ext cx="251460" cy="251460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8302752" y="4398264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50" dirty="0">
                <a:solidFill>
                  <a:srgbClr val="C9C4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executive-ready incident narrative</a:t>
            </a:r>
            <a:endParaRPr lang="en-US" sz="1150" dirty="0"/>
          </a:p>
        </p:txBody>
      </p:sp>
      <p:sp>
        <p:nvSpPr>
          <p:cNvPr id="32" name="Shape 26"/>
          <p:cNvSpPr/>
          <p:nvPr/>
        </p:nvSpPr>
        <p:spPr>
          <a:xfrm>
            <a:off x="566928" y="5212080"/>
            <a:ext cx="11064240" cy="914400"/>
          </a:xfrm>
          <a:prstGeom prst="rect">
            <a:avLst/>
          </a:prstGeom>
          <a:solidFill>
            <a:srgbClr val="6D28D9"/>
          </a:solidFill>
          <a:ln/>
        </p:spPr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5440680"/>
            <a:ext cx="457200" cy="457200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1508760" y="521208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Apache-2.0 licensed  ·  contributions welcome  ·  built for LATAM banking &amp; fintech</a:t>
            </a:r>
            <a:endParaRPr lang="en-US" sz="1300" dirty="0"/>
          </a:p>
        </p:txBody>
      </p:sp>
      <p:sp>
        <p:nvSpPr>
          <p:cNvPr id="35" name="Text 28"/>
          <p:cNvSpPr/>
          <p:nvPr/>
        </p:nvSpPr>
        <p:spPr>
          <a:xfrm>
            <a:off x="1123157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84A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19</a:t>
            </a:r>
            <a:endParaRPr lang="en-US" sz="1100" dirty="0"/>
          </a:p>
        </p:txBody>
      </p:sp>
      <p:sp>
        <p:nvSpPr>
          <p:cNvPr id="36" name="Text 29"/>
          <p:cNvSpPr/>
          <p:nvPr/>
        </p:nvSpPr>
        <p:spPr>
          <a:xfrm>
            <a:off x="548640" y="6355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8B8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 GROUP  ·  RED SPEARS LABS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D28D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FOR YOUR TEAM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E0B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How to adopt this without boiling the ocean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1965960"/>
            <a:ext cx="3566160" cy="3200400"/>
          </a:xfrm>
          <a:prstGeom prst="rect">
            <a:avLst/>
          </a:prstGeom>
          <a:solidFill>
            <a:srgbClr val="F4F2FA"/>
          </a:solidFill>
          <a:ln w="12700">
            <a:solidFill>
              <a:srgbClr val="E3DF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965960"/>
            <a:ext cx="3566160" cy="91440"/>
          </a:xfrm>
          <a:prstGeom prst="rect">
            <a:avLst/>
          </a:prstGeom>
          <a:solidFill>
            <a:srgbClr val="6D28D9"/>
          </a:solidFill>
          <a:ln/>
        </p:spPr>
      </p:sp>
      <p:sp>
        <p:nvSpPr>
          <p:cNvPr id="6" name="Text 4"/>
          <p:cNvSpPr/>
          <p:nvPr/>
        </p:nvSpPr>
        <p:spPr>
          <a:xfrm>
            <a:off x="886968" y="224028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6D28D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905256" y="306324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spc="100" kern="0" dirty="0">
                <a:solidFill>
                  <a:srgbClr val="0E0B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ASSIST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05256" y="3538728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8B8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AI alongside analysts. It drafts the timeline; humans verify everything.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905256" y="4599432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05256" y="4599432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D28D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Weeks 1–4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315968" y="1965960"/>
            <a:ext cx="3566160" cy="3200400"/>
          </a:xfrm>
          <a:prstGeom prst="rect">
            <a:avLst/>
          </a:prstGeom>
          <a:solidFill>
            <a:srgbClr val="F4F2FA"/>
          </a:solidFill>
          <a:ln w="12700">
            <a:solidFill>
              <a:srgbClr val="E3DF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15968" y="1965960"/>
            <a:ext cx="3566160" cy="91440"/>
          </a:xfrm>
          <a:prstGeom prst="rect">
            <a:avLst/>
          </a:prstGeom>
          <a:solidFill>
            <a:srgbClr val="E11D48"/>
          </a:solidFill>
          <a:ln/>
        </p:spPr>
      </p:sp>
      <p:sp>
        <p:nvSpPr>
          <p:cNvPr id="13" name="Text 11"/>
          <p:cNvSpPr/>
          <p:nvPr/>
        </p:nvSpPr>
        <p:spPr>
          <a:xfrm>
            <a:off x="4636008" y="224028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E11D4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4600" dirty="0"/>
          </a:p>
        </p:txBody>
      </p:sp>
      <p:sp>
        <p:nvSpPr>
          <p:cNvPr id="14" name="Text 12"/>
          <p:cNvSpPr/>
          <p:nvPr/>
        </p:nvSpPr>
        <p:spPr>
          <a:xfrm>
            <a:off x="4654296" y="306324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spc="100" kern="0" dirty="0">
                <a:solidFill>
                  <a:srgbClr val="0E0B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ACCELERATE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654296" y="3538728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8B8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owns enrichment &amp; graph-building. Analysts focus on decisions &amp; containment.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654296" y="4599432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54296" y="4599432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11D4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Months 2–3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8065008" y="1965960"/>
            <a:ext cx="3566160" cy="3200400"/>
          </a:xfrm>
          <a:prstGeom prst="rect">
            <a:avLst/>
          </a:prstGeom>
          <a:solidFill>
            <a:srgbClr val="F4F2FA"/>
          </a:solidFill>
          <a:ln w="12700">
            <a:solidFill>
              <a:srgbClr val="E3DF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065008" y="1965960"/>
            <a:ext cx="3566160" cy="914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0" name="Text 18"/>
          <p:cNvSpPr/>
          <p:nvPr/>
        </p:nvSpPr>
        <p:spPr>
          <a:xfrm>
            <a:off x="8385048" y="224028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4600" dirty="0"/>
          </a:p>
        </p:txBody>
      </p:sp>
      <p:sp>
        <p:nvSpPr>
          <p:cNvPr id="21" name="Text 19"/>
          <p:cNvSpPr/>
          <p:nvPr/>
        </p:nvSpPr>
        <p:spPr>
          <a:xfrm>
            <a:off x="8403336" y="306324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spc="100" kern="0" dirty="0">
                <a:solidFill>
                  <a:srgbClr val="0E0B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ORCHESTRATE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8403336" y="3538728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8B8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runs the full loop and pre-stages containment. Humans approve at the gate.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8403336" y="4599432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403336" y="4599432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Month 4+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66928" y="553212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0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rule that doesn't change:  </a:t>
            </a:r>
            <a:pPr indent="0" marL="0">
              <a:buNone/>
            </a:pPr>
            <a:r>
              <a:rPr lang="en-US" sz="1300" dirty="0">
                <a:solidFill>
                  <a:srgbClr val="8B8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compresses the investigation. Humans still own the irreversible decisions.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123157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84A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48640" y="6355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8B8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 GROUP  ·  RED SPEARS LABS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E0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78BF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TO REMEMBER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Five things to take back to your SOC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874520"/>
            <a:ext cx="11064240" cy="768096"/>
          </a:xfrm>
          <a:prstGeom prst="rect">
            <a:avLst/>
          </a:prstGeom>
          <a:solidFill>
            <a:srgbClr val="1A1430"/>
          </a:solidFill>
          <a:ln w="12700">
            <a:solidFill>
              <a:srgbClr val="2A234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2048256"/>
            <a:ext cx="420624" cy="420624"/>
          </a:xfrm>
          <a:prstGeom prst="ellipse">
            <a:avLst/>
          </a:prstGeom>
          <a:solidFill>
            <a:srgbClr val="6D28D9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0482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417320" y="1874520"/>
            <a:ext cx="100584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C9C4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Incident response is shifting from manual forensics to AI-driven foresight — globally, now.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66928" y="2752344"/>
            <a:ext cx="11064240" cy="768096"/>
          </a:xfrm>
          <a:prstGeom prst="rect">
            <a:avLst/>
          </a:prstGeom>
          <a:solidFill>
            <a:srgbClr val="1A1430"/>
          </a:solidFill>
          <a:ln w="12700">
            <a:solidFill>
              <a:srgbClr val="2A234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2926080"/>
            <a:ext cx="420624" cy="420624"/>
          </a:xfrm>
          <a:prstGeom prst="ellipse">
            <a:avLst/>
          </a:prstGeom>
          <a:solidFill>
            <a:srgbClr val="E11D48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9260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417320" y="2752344"/>
            <a:ext cx="100584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C9C4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AI's edge is reconstruction: it builds the full, proven attack path from entry to exfiltration.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66928" y="3630168"/>
            <a:ext cx="11064240" cy="768096"/>
          </a:xfrm>
          <a:prstGeom prst="rect">
            <a:avLst/>
          </a:prstGeom>
          <a:solidFill>
            <a:srgbClr val="1A1430"/>
          </a:solidFill>
          <a:ln w="12700">
            <a:solidFill>
              <a:srgbClr val="2A234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7240" y="3803904"/>
            <a:ext cx="420624" cy="420624"/>
          </a:xfrm>
          <a:prstGeom prst="ellipse">
            <a:avLst/>
          </a:prstGeom>
          <a:solidFill>
            <a:srgbClr val="6D28D9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38039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417320" y="3630168"/>
            <a:ext cx="100584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C9C4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agent starts at Point A — one signal — and validates outward with two independent sources.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66928" y="4507992"/>
            <a:ext cx="11064240" cy="768096"/>
          </a:xfrm>
          <a:prstGeom prst="rect">
            <a:avLst/>
          </a:prstGeom>
          <a:solidFill>
            <a:srgbClr val="1A1430"/>
          </a:solidFill>
          <a:ln w="12700">
            <a:solidFill>
              <a:srgbClr val="2A234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7240" y="4681728"/>
            <a:ext cx="420624" cy="420624"/>
          </a:xfrm>
          <a:prstGeom prst="ellipse">
            <a:avLst/>
          </a:prstGeom>
          <a:solidFill>
            <a:srgbClr val="E11D48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46817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417320" y="4507992"/>
            <a:ext cx="100584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C9C4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 tools by the question: enrichment, telemetry, reasoning, action — wired through one contract.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66928" y="5385816"/>
            <a:ext cx="11064240" cy="768096"/>
          </a:xfrm>
          <a:prstGeom prst="rect">
            <a:avLst/>
          </a:prstGeom>
          <a:solidFill>
            <a:srgbClr val="1A1430"/>
          </a:solidFill>
          <a:ln w="12700">
            <a:solidFill>
              <a:srgbClr val="2A234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77240" y="5559552"/>
            <a:ext cx="420624" cy="420624"/>
          </a:xfrm>
          <a:prstGeom prst="ellipse">
            <a:avLst/>
          </a:prstGeom>
          <a:solidFill>
            <a:srgbClr val="6D28D9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55595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417320" y="5385816"/>
            <a:ext cx="100584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C9C4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toolkit is open source. Clone it today and run your first reconstruction this week.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1123157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84A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21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48640" y="6355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8B8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 GROUP  ·  RED SPEARS LABS</a:t>
            </a:r>
            <a:endParaRPr lang="en-US" sz="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E0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E11D48"/>
          </a:solidFill>
          <a:ln/>
        </p:spPr>
      </p:sp>
      <p:sp>
        <p:nvSpPr>
          <p:cNvPr id="3" name="Shape 1"/>
          <p:cNvSpPr/>
          <p:nvPr/>
        </p:nvSpPr>
        <p:spPr>
          <a:xfrm>
            <a:off x="8412480" y="-2194560"/>
            <a:ext cx="6400800" cy="6400800"/>
          </a:xfrm>
          <a:prstGeom prst="ellipse">
            <a:avLst/>
          </a:prstGeom>
          <a:solidFill>
            <a:srgbClr val="6D28D9">
              <a:alpha val="2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875520" y="3566160"/>
            <a:ext cx="4389120" cy="4389120"/>
          </a:xfrm>
          <a:prstGeom prst="ellipse">
            <a:avLst/>
          </a:prstGeom>
          <a:solidFill>
            <a:srgbClr val="E11D48">
              <a:alpha val="16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3716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A78BF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THANK YOU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" y="1874520"/>
            <a:ext cx="10058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8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breach will be fast.</a:t>
            </a:r>
            <a:endParaRPr lang="en-US" sz="4400" dirty="0"/>
          </a:p>
          <a:p>
            <a:pPr indent="0" marL="0">
              <a:lnSpc>
                <a:spcPts val="48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Your response can be faster.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822960" y="379476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Clone the toolkit, run a reconstruction, and bring AI-driven incident response to your team.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22960" y="4800600"/>
            <a:ext cx="7040880" cy="1051560"/>
          </a:xfrm>
          <a:prstGeom prst="rect">
            <a:avLst/>
          </a:prstGeom>
          <a:solidFill>
            <a:srgbClr val="1A1430"/>
          </a:solidFill>
          <a:ln w="12700">
            <a:solidFill>
              <a:srgbClr val="2A234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51560" y="5029200"/>
            <a:ext cx="566928" cy="566928"/>
          </a:xfrm>
          <a:prstGeom prst="roundRect">
            <a:avLst>
              <a:gd name="adj" fmla="val 22000"/>
            </a:avLst>
          </a:prstGeom>
          <a:solidFill>
            <a:srgbClr val="6D28D9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93292" y="5170932"/>
            <a:ext cx="283464" cy="283464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828800" y="4800600"/>
            <a:ext cx="5852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github.com/devel-group/ai-incident-response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000" dirty="0">
                <a:solidFill>
                  <a:srgbClr val="8B8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Camilo Fernández  ·  Devel Group  ·  Red Spears Labs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822960" y="6126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8B84A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DEVEL GROUP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Incident Response, Rewritten by AI</dc:title>
  <dc:subject>PptxGenJS Presentation</dc:subject>
  <dc:creator>Devel Group · Red Spears Labs</dc:creator>
  <cp:lastModifiedBy>Devel Group · Red Spears Labs</cp:lastModifiedBy>
  <cp:revision>1</cp:revision>
  <dcterms:created xsi:type="dcterms:W3CDTF">2026-05-20T05:22:53Z</dcterms:created>
  <dcterms:modified xsi:type="dcterms:W3CDTF">2026-05-20T05:22:53Z</dcterms:modified>
</cp:coreProperties>
</file>