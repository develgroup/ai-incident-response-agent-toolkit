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7" r:id="rId21"/>
    <p:sldId id="278" r:id="rId22"/>
    <p:sldId id="279" r:id="rId23"/>
    <p:sldId id="280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7833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8">
            <a:extLst>
              <a:ext uri="{FF2B5EF4-FFF2-40B4-BE49-F238E27FC236}">
                <a16:creationId xmlns:a16="http://schemas.microsoft.com/office/drawing/2014/main" id="{0CF8CBBB-805B-93DB-9500-CEDEA766B7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63" r="28820" b="8397"/>
          <a:stretch>
            <a:fillRect/>
          </a:stretch>
        </p:blipFill>
        <p:spPr>
          <a:xfrm>
            <a:off x="4578006" y="-15372"/>
            <a:ext cx="7613994" cy="687337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4102" y="977927"/>
            <a:ext cx="5106203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8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INCIDENT RESPONSE,</a:t>
            </a:r>
            <a:endParaRPr lang="en-US" sz="5800" dirty="0"/>
          </a:p>
          <a:p>
            <a:pPr marL="0" indent="0">
              <a:lnSpc>
                <a:spcPts val="58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REWRITTEN BY AI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434339" y="3785903"/>
            <a:ext cx="477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 reconstructs the full attack path of a cloud or server breach 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from initial entry to lateral movement 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and turns containment from days into minutes.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394960"/>
            <a:ext cx="1563624" cy="420624"/>
          </a:xfrm>
          <a:prstGeom prst="roundRect">
            <a:avLst>
              <a:gd name="adj" fmla="val 21739"/>
            </a:avLst>
          </a:prstGeom>
          <a:solidFill>
            <a:srgbClr val="E11D48"/>
          </a:solidFill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5394960"/>
            <a:ext cx="1563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30-MIN BRIEFING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51176" y="5394960"/>
            <a:ext cx="2423160" cy="420624"/>
          </a:xfrm>
          <a:prstGeom prst="roundRect">
            <a:avLst>
              <a:gd name="adj" fmla="val 21739"/>
            </a:avLst>
          </a:prstGeom>
          <a:solidFill>
            <a:srgbClr val="6D28D9"/>
          </a:solidFill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51176" y="5394960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LIVE: GITHUB TOOL RELEASE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61081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Camilo Fernández  ·  Founder &amp; CEO, Devel Group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-2377440"/>
            <a:ext cx="6766560" cy="6766560"/>
          </a:xfrm>
          <a:prstGeom prst="ellipse">
            <a:avLst/>
          </a:prstGeom>
          <a:solidFill>
            <a:srgbClr val="6D28D9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692640" y="3657600"/>
            <a:ext cx="4572000" cy="4572000"/>
          </a:xfrm>
          <a:prstGeom prst="ellipse">
            <a:avLst/>
          </a:prstGeom>
          <a:solidFill>
            <a:srgbClr val="E11D48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WE START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It's 2 AM. Your phone rings.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quick question for the room — 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honest.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5420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of you have ever been an incident responder — or had to answer that call?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310128"/>
            <a:ext cx="3566160" cy="2148840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22960" y="3310128"/>
            <a:ext cx="3566160" cy="73152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15568" y="358444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3726180"/>
            <a:ext cx="283464" cy="28346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810512" y="35844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2:00 AM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115568" y="4270248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wake up to a call you hoped would never come. "We think we've been breached."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0" y="3310128"/>
            <a:ext cx="3566160" cy="2148840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72000" y="3310128"/>
            <a:ext cx="356616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864608" y="358444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3726180"/>
            <a:ext cx="283464" cy="28346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559552" y="35844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50-person bridge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4864608" y="4270248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dial in. Executives, legal, vendors, the SOC — all of them waiting. All of them looking at you.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321040" y="3310128"/>
            <a:ext cx="3566160" cy="2148840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8321040" y="3310128"/>
            <a:ext cx="3566160" cy="7315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8613648" y="358444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5380" y="3726180"/>
            <a:ext cx="283464" cy="2834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308592" y="35844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And the real question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8613648" y="4270248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did they get in? What did they touch? Are they still inside? Right now — you don't know.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gap between the call and the answer — 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what this talk is about.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NUMBER THAT SHOULD WORRY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long until you actually know what happened?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51790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moment a breach starts to the moment you have the full picture — entry point, every action, current exposure.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5349240" cy="3456432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965960"/>
            <a:ext cx="5349240" cy="475488"/>
          </a:xfrm>
          <a:prstGeom prst="rect">
            <a:avLst/>
          </a:prstGeom>
          <a:solidFill>
            <a:srgbClr val="2A2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4983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kern="0" spc="200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TRADITIONAL  ·  MANUAL IR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41248" y="2660904"/>
            <a:ext cx="118872" cy="118872"/>
          </a:xfrm>
          <a:prstGeom prst="ellipse">
            <a:avLst/>
          </a:prstGeom>
          <a:solidFill>
            <a:srgbClr val="FB71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256946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the breach is even happening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06240" y="256946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~204 days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" y="3168396"/>
            <a:ext cx="118872" cy="118872"/>
          </a:xfrm>
          <a:prstGeom prst="ellipse">
            <a:avLst/>
          </a:prstGeom>
          <a:solidFill>
            <a:srgbClr val="FB71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307695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it — pull and correlate the logs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06240" y="307695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2–4 weeks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41248" y="3675888"/>
            <a:ext cx="118872" cy="118872"/>
          </a:xfrm>
          <a:prstGeom prst="ellipse">
            <a:avLst/>
          </a:prstGeom>
          <a:solidFill>
            <a:srgbClr val="FB71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7280" y="35844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 the full attack path by hand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06240" y="35844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60–80 hours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41248" y="4183380"/>
            <a:ext cx="118872" cy="118872"/>
          </a:xfrm>
          <a:prstGeom prst="ellipse">
            <a:avLst/>
          </a:prstGeom>
          <a:solidFill>
            <a:srgbClr val="FB71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97280" y="40919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and execute containment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06240" y="40919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Days more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873752"/>
            <a:ext cx="5349240" cy="54864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87375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9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TOTAL:  </a:t>
            </a: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weeks to months before the picture is complete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97296" y="3520440"/>
            <a:ext cx="603504" cy="603504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666744"/>
            <a:ext cx="310896" cy="310896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6419088" y="1965960"/>
            <a:ext cx="5349240" cy="345643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419088" y="1965960"/>
            <a:ext cx="5349240" cy="475488"/>
          </a:xfrm>
          <a:prstGeom prst="rect">
            <a:avLst/>
          </a:prstGeom>
          <a:solidFill>
            <a:srgbClr val="5B21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629400" y="1965960"/>
            <a:ext cx="4983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AI  ·  AGENT-DRIVEN IR</a:t>
            </a:r>
            <a:endParaRPr lang="en-US" sz="115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624328"/>
            <a:ext cx="182880" cy="18288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949440" y="256946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— AI watches telemetry continuously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10030968" y="256946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Minutes</a:t>
            </a:r>
            <a:endParaRPr lang="en-US" sz="115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131820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949440" y="307695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— agents ingest all sources at once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10030968" y="307695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Seconds</a:t>
            </a:r>
            <a:endParaRPr lang="en-US" sz="115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639312"/>
            <a:ext cx="182880" cy="18288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949440" y="35844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 the attack path automatically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10030968" y="358444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Minutes</a:t>
            </a:r>
            <a:endParaRPr lang="en-US" sz="115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146804"/>
            <a:ext cx="182880" cy="18288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949440" y="40919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Containment staged, ready for approval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10030968" y="40919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Same hour</a:t>
            </a:r>
            <a:endParaRPr lang="en-US" sz="1150" dirty="0"/>
          </a:p>
        </p:txBody>
      </p:sp>
      <p:sp>
        <p:nvSpPr>
          <p:cNvPr id="39" name="Shape 32"/>
          <p:cNvSpPr/>
          <p:nvPr/>
        </p:nvSpPr>
        <p:spPr>
          <a:xfrm>
            <a:off x="6419088" y="4873752"/>
            <a:ext cx="5349240" cy="5486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3"/>
          <p:cNvSpPr/>
          <p:nvPr/>
        </p:nvSpPr>
        <p:spPr>
          <a:xfrm>
            <a:off x="6629400" y="487375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F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TOTAL:  </a:t>
            </a: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full picture within hours of the first signal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566928" y="5623560"/>
            <a:ext cx="11064240" cy="676656"/>
          </a:xfrm>
          <a:prstGeom prst="rect">
            <a:avLst/>
          </a:prstGeom>
          <a:solidFill>
            <a:srgbClr val="0E0B1A"/>
          </a:solidFill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779008"/>
            <a:ext cx="365760" cy="36576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1371600" y="5623560"/>
            <a:ext cx="10058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shift:  </a:t>
            </a:r>
            <a:r>
              <a:rPr lang="en-US" sz="125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of manual forensics compressed into a single working session.</a:t>
            </a:r>
            <a:endParaRPr lang="en-US" sz="1250" dirty="0"/>
          </a:p>
        </p:txBody>
      </p:sp>
      <p:sp>
        <p:nvSpPr>
          <p:cNvPr id="44" name="Text 36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MINUTES · WHAT WE'LL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1064240" cy="96012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91440" cy="96012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05740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2205990"/>
            <a:ext cx="297180" cy="2971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87452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3DF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331720" y="19933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global shift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331720" y="235000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incident response is being rebuilt around AI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0378440" y="2167128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378440" y="216712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min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6928" y="2971800"/>
            <a:ext cx="11064240" cy="96012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66928" y="2971800"/>
            <a:ext cx="91440" cy="96012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68680" y="315468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" y="3303270"/>
            <a:ext cx="297180" cy="2971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45920" y="297180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3DF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2331720" y="309067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Walking a breach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2331720" y="344728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cloud intrusion, reconstructed step by step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10378440" y="3264408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10378440" y="32644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min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566928" y="4069080"/>
            <a:ext cx="11064240" cy="96012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566928" y="4069080"/>
            <a:ext cx="91440" cy="96012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868680" y="425196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270" y="4400550"/>
            <a:ext cx="297180" cy="2971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645920" y="406908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3DF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2331720" y="41879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&amp; how-to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2331720" y="454456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AI tools to use, and how to wire them in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10378440" y="4361688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10378440" y="436168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min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566928" y="5166360"/>
            <a:ext cx="11064240" cy="96012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566928" y="5166360"/>
            <a:ext cx="91440" cy="96012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868680" y="534924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270" y="5497830"/>
            <a:ext cx="297180" cy="29718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645920" y="516636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3DF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36" name="Text 30"/>
          <p:cNvSpPr/>
          <p:nvPr/>
        </p:nvSpPr>
        <p:spPr>
          <a:xfrm>
            <a:off x="2331720" y="52852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GitHub release</a:t>
            </a:r>
            <a:endParaRPr lang="en-US" sz="1600" dirty="0"/>
          </a:p>
        </p:txBody>
      </p:sp>
      <p:sp>
        <p:nvSpPr>
          <p:cNvPr id="37" name="Text 31"/>
          <p:cNvSpPr/>
          <p:nvPr/>
        </p:nvSpPr>
        <p:spPr>
          <a:xfrm>
            <a:off x="2331720" y="564184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Open-sourcing our AI analytics toolkit — live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10378440" y="5458968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/>
          <p:nvPr/>
        </p:nvSpPr>
        <p:spPr>
          <a:xfrm>
            <a:off x="10378440" y="545896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min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clock has always been the enemy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incident response is a manual race against an automated adversary. By the time analysts piece the story together, the attacker is long gone.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514600"/>
            <a:ext cx="3611880" cy="274320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2514600"/>
            <a:ext cx="3611880" cy="9144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" y="2724912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204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612648" y="38221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300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42062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time to identify a breach before containment even begins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53128" y="2514600"/>
            <a:ext cx="3611880" cy="274320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53128" y="2514600"/>
            <a:ext cx="3611880" cy="9144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98848" y="2724912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</a:t>
            </a:r>
            <a:endParaRPr lang="en-US" sz="5800" dirty="0"/>
          </a:p>
        </p:txBody>
      </p:sp>
      <p:sp>
        <p:nvSpPr>
          <p:cNvPr id="13" name="Text 11"/>
          <p:cNvSpPr/>
          <p:nvPr/>
        </p:nvSpPr>
        <p:spPr>
          <a:xfrm>
            <a:off x="4498848" y="38221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300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HOURS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18888" y="42062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analyst effort to manually reconstruct one cloud intrusion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339328" y="2514600"/>
            <a:ext cx="3611880" cy="274320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39328" y="2514600"/>
            <a:ext cx="361188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85048" y="2724912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5800" dirty="0"/>
          </a:p>
        </p:txBody>
      </p:sp>
      <p:sp>
        <p:nvSpPr>
          <p:cNvPr id="18" name="Text 16"/>
          <p:cNvSpPr/>
          <p:nvPr/>
        </p:nvSpPr>
        <p:spPr>
          <a:xfrm>
            <a:off x="8385048" y="38221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300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 TIME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05088" y="42062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spent collecting &amp; correlating logs — not actually responding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0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asymmetry:  </a:t>
            </a:r>
            <a:r>
              <a:rPr lang="en-US" sz="13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attackers automate. Defenders still investigate by hand.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GLOBAL SHIFT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forensics to foresight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349240" cy="4160520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349240" cy="566928"/>
          </a:xfrm>
          <a:prstGeom prst="rect">
            <a:avLst/>
          </a:prstGeom>
          <a:solidFill>
            <a:srgbClr val="2A2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YESTERDAY  ·  MANUAL IR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63347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263347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Analysts hand-pull logs from every console and SIEM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32918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assembled in spreadsheets, days after the fact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95020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95020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is a hypothesis, rarely a proven path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60857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460857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Containment waits for human consensus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26694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526694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dies in a PDF nobody re-reads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97296" y="3657600"/>
            <a:ext cx="603504" cy="603504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803904"/>
            <a:ext cx="310896" cy="310896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419088" y="1828800"/>
            <a:ext cx="5349240" cy="416052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419088" y="1828800"/>
            <a:ext cx="5349240" cy="566928"/>
          </a:xfrm>
          <a:prstGeom prst="rect">
            <a:avLst/>
          </a:prstGeom>
          <a:solidFill>
            <a:srgbClr val="5B21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629400" y="182880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  ·  AI-DRIVEN IR</a:t>
            </a:r>
            <a:endParaRPr lang="en-US" sz="12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2651760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022592" y="263347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ingest cloud, identity &amp; endpoint telemetry in seconds</a:t>
            </a:r>
            <a:endParaRPr lang="en-US" sz="12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3310128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022592" y="329184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path reconstructed automatically as a causal graph</a:t>
            </a:r>
            <a:endParaRPr lang="en-US" sz="12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3968496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22592" y="395020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is a proven chain of evidence, not a guess</a:t>
            </a:r>
            <a:endParaRPr lang="en-US" sz="12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626864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022592" y="460857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Containment actions proposed — and pre-staged — instantly</a:t>
            </a:r>
            <a:endParaRPr lang="en-US" sz="12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5285232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022592" y="526694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incident becomes reusable, queryable knowledge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CAPABILITY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things AI does that humans can't do fast enough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26974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2697480" cy="9144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86968" y="2258568"/>
            <a:ext cx="868680" cy="868680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38" y="2475738"/>
            <a:ext cx="434340" cy="4343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6968" y="32918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Correlate at scale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86968" y="411480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millions of log lines across cloud, identity and endpoint sources — surfaces the 12 that matter.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29000" y="1874520"/>
            <a:ext cx="26974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29000" y="1874520"/>
            <a:ext cx="2697480" cy="9144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749040" y="2258568"/>
            <a:ext cx="868680" cy="868680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6210" y="2475738"/>
            <a:ext cx="434340" cy="4343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49040" y="32918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Reconstruct the path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749040" y="411480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events into a causal attack graph: entry → escalation → lateral move → objective.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91072" y="1874520"/>
            <a:ext cx="26974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291072" y="1874520"/>
            <a:ext cx="2697480" cy="9144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611112" y="2258568"/>
            <a:ext cx="868680" cy="868680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8282" y="2475738"/>
            <a:ext cx="434340" cy="4343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11112" y="32918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Explain the intent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611112" y="411480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raw IOCs into a human narrative — what the attacker wanted, and why.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153144" y="1874520"/>
            <a:ext cx="26974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9153144" y="1874520"/>
            <a:ext cx="2697480" cy="9144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9473184" y="2258568"/>
            <a:ext cx="868680" cy="868680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0354" y="2475738"/>
            <a:ext cx="434340" cy="4343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473184" y="32918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Pre-stage the response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473184" y="411480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the exact containment actions and the commands to execute them.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645920" y="2926080"/>
            <a:ext cx="5669280" cy="5669280"/>
          </a:xfrm>
          <a:prstGeom prst="ellipse">
            <a:avLst/>
          </a:prstGeom>
          <a:solidFill>
            <a:srgbClr val="6D28D9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560320"/>
            <a:ext cx="9875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breach in the cloud — walked end to end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425196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follow one real intrusion pattern: a leaked key in a public bucket. AI reconstructs every step the attacker took — and shows us exactly how to slam the door.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RECONSTRUCTED ATTACK PATH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one leaked key to full data exfiltration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builds this graph automatically from telemetry — each node is a proven event, each arrow a causal link.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1700784" cy="260604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2057400"/>
            <a:ext cx="1700784" cy="73152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06424" y="2286000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2441448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297180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21792" y="3191256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INITIAL ACCESS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58368" y="3630168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Leaked IAM key found in a public repo</a:t>
            </a:r>
            <a:endParaRPr lang="en-US" sz="900" dirty="0"/>
          </a:p>
        </p:txBody>
      </p:sp>
      <p:pic>
        <p:nvPicPr>
          <p:cNvPr id="12" name="Image 1" descr="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4288" y="3291840"/>
            <a:ext cx="128016" cy="1371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468880" y="2057400"/>
            <a:ext cx="1700784" cy="260604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2468880" y="2057400"/>
            <a:ext cx="1700784" cy="73152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3008376" y="2286000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3824" y="244144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468880" y="297180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2523744" y="3191256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CREDENTIAL USE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2560320" y="3630168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authenticates from a brand-new ASN</a:t>
            </a:r>
            <a:endParaRPr lang="en-US" sz="900" dirty="0"/>
          </a:p>
        </p:txBody>
      </p:sp>
      <p:pic>
        <p:nvPicPr>
          <p:cNvPr id="20" name="Image 3" descr="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3291840"/>
            <a:ext cx="128016" cy="13716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370832" y="2057400"/>
            <a:ext cx="1700784" cy="260604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4370832" y="2057400"/>
            <a:ext cx="1700784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4910328" y="2286000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5776" y="2441448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370832" y="297180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4425696" y="3191256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PRIVILEGE ESC.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4462272" y="3630168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Over-permissive role grants admin scope</a:t>
            </a:r>
            <a:endParaRPr lang="en-US" sz="900" dirty="0"/>
          </a:p>
        </p:txBody>
      </p:sp>
      <p:pic>
        <p:nvPicPr>
          <p:cNvPr id="28" name="Image 5" descr="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3291840"/>
            <a:ext cx="128016" cy="13716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6272784" y="2057400"/>
            <a:ext cx="1700784" cy="260604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6272784" y="2057400"/>
            <a:ext cx="1700784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3"/>
          <p:cNvSpPr/>
          <p:nvPr/>
        </p:nvSpPr>
        <p:spPr>
          <a:xfrm>
            <a:off x="6812280" y="2286000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7728" y="2441448"/>
            <a:ext cx="310896" cy="31089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272784" y="297180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4</a:t>
            </a:r>
            <a:endParaRPr lang="en-US" sz="800" dirty="0"/>
          </a:p>
        </p:txBody>
      </p:sp>
      <p:sp>
        <p:nvSpPr>
          <p:cNvPr id="34" name="Text 25"/>
          <p:cNvSpPr/>
          <p:nvPr/>
        </p:nvSpPr>
        <p:spPr>
          <a:xfrm>
            <a:off x="6327648" y="3191256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LATERAL MOVE</a:t>
            </a:r>
            <a:endParaRPr lang="en-US" sz="1000" dirty="0"/>
          </a:p>
        </p:txBody>
      </p:sp>
      <p:sp>
        <p:nvSpPr>
          <p:cNvPr id="35" name="Text 26"/>
          <p:cNvSpPr/>
          <p:nvPr/>
        </p:nvSpPr>
        <p:spPr>
          <a:xfrm>
            <a:off x="6364224" y="3630168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Pivots into compute &amp; database subnets</a:t>
            </a:r>
            <a:endParaRPr lang="en-US" sz="900" dirty="0"/>
          </a:p>
        </p:txBody>
      </p:sp>
      <p:pic>
        <p:nvPicPr>
          <p:cNvPr id="36" name="Image 7" descr="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4" y="3291840"/>
            <a:ext cx="128016" cy="137160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8174736" y="2057400"/>
            <a:ext cx="1700784" cy="260604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28"/>
          <p:cNvSpPr/>
          <p:nvPr/>
        </p:nvSpPr>
        <p:spPr>
          <a:xfrm>
            <a:off x="8174736" y="2057400"/>
            <a:ext cx="1700784" cy="7315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29"/>
          <p:cNvSpPr/>
          <p:nvPr/>
        </p:nvSpPr>
        <p:spPr>
          <a:xfrm>
            <a:off x="8714232" y="2286000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9680" y="2441448"/>
            <a:ext cx="310896" cy="310896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8174736" y="297180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5</a:t>
            </a:r>
            <a:endParaRPr lang="en-US" sz="800" dirty="0"/>
          </a:p>
        </p:txBody>
      </p:sp>
      <p:sp>
        <p:nvSpPr>
          <p:cNvPr id="42" name="Text 31"/>
          <p:cNvSpPr/>
          <p:nvPr/>
        </p:nvSpPr>
        <p:spPr>
          <a:xfrm>
            <a:off x="8229600" y="3191256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COLLECTION</a:t>
            </a:r>
            <a:endParaRPr lang="en-US" sz="1000" dirty="0"/>
          </a:p>
        </p:txBody>
      </p:sp>
      <p:sp>
        <p:nvSpPr>
          <p:cNvPr id="43" name="Text 32"/>
          <p:cNvSpPr/>
          <p:nvPr/>
        </p:nvSpPr>
        <p:spPr>
          <a:xfrm>
            <a:off x="8266176" y="3630168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 a production DB volume</a:t>
            </a:r>
            <a:endParaRPr lang="en-US" sz="900" dirty="0"/>
          </a:p>
        </p:txBody>
      </p:sp>
      <p:pic>
        <p:nvPicPr>
          <p:cNvPr id="44" name="Image 9" descr="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2096" y="3291840"/>
            <a:ext cx="128016" cy="137160"/>
          </a:xfrm>
          <a:prstGeom prst="rect">
            <a:avLst/>
          </a:prstGeom>
        </p:spPr>
      </p:pic>
      <p:sp>
        <p:nvSpPr>
          <p:cNvPr id="45" name="Shape 33"/>
          <p:cNvSpPr/>
          <p:nvPr/>
        </p:nvSpPr>
        <p:spPr>
          <a:xfrm>
            <a:off x="10076688" y="2057400"/>
            <a:ext cx="1700784" cy="260604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4"/>
          <p:cNvSpPr/>
          <p:nvPr/>
        </p:nvSpPr>
        <p:spPr>
          <a:xfrm>
            <a:off x="10076688" y="2057400"/>
            <a:ext cx="1700784" cy="7315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35"/>
          <p:cNvSpPr/>
          <p:nvPr/>
        </p:nvSpPr>
        <p:spPr>
          <a:xfrm>
            <a:off x="10616184" y="2286000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71632" y="2441448"/>
            <a:ext cx="310896" cy="310896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10076688" y="297180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6</a:t>
            </a:r>
            <a:endParaRPr lang="en-US" sz="800" dirty="0"/>
          </a:p>
        </p:txBody>
      </p:sp>
      <p:sp>
        <p:nvSpPr>
          <p:cNvPr id="50" name="Text 37"/>
          <p:cNvSpPr/>
          <p:nvPr/>
        </p:nvSpPr>
        <p:spPr>
          <a:xfrm>
            <a:off x="10131552" y="3191256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EXFILTRATION</a:t>
            </a:r>
            <a:endParaRPr lang="en-US" sz="1000" dirty="0"/>
          </a:p>
        </p:txBody>
      </p:sp>
      <p:sp>
        <p:nvSpPr>
          <p:cNvPr id="51" name="Text 38"/>
          <p:cNvSpPr/>
          <p:nvPr/>
        </p:nvSpPr>
        <p:spPr>
          <a:xfrm>
            <a:off x="10168128" y="3630168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shared to an external account</a:t>
            </a:r>
            <a:endParaRPr lang="en-US" sz="900" dirty="0"/>
          </a:p>
        </p:txBody>
      </p:sp>
      <p:sp>
        <p:nvSpPr>
          <p:cNvPr id="52" name="Shape 39"/>
          <p:cNvSpPr/>
          <p:nvPr/>
        </p:nvSpPr>
        <p:spPr>
          <a:xfrm>
            <a:off x="566928" y="4937760"/>
            <a:ext cx="11064240" cy="1051560"/>
          </a:xfrm>
          <a:prstGeom prst="rect">
            <a:avLst/>
          </a:prstGeom>
          <a:solidFill>
            <a:srgbClr val="0E0B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8680" y="5230368"/>
            <a:ext cx="457200" cy="457200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1508760" y="5029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node is auto-mapped to MITRE ATT&amp;CK</a:t>
            </a:r>
            <a:endParaRPr lang="en-US" sz="1300" dirty="0"/>
          </a:p>
        </p:txBody>
      </p:sp>
      <p:sp>
        <p:nvSpPr>
          <p:cNvPr id="55" name="Text 41"/>
          <p:cNvSpPr/>
          <p:nvPr/>
        </p:nvSpPr>
        <p:spPr>
          <a:xfrm>
            <a:off x="1508760" y="54223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T1552 · T1078 · T1098 · T1021 · T1530 · TA0010 — the path doubles as a defensible, framework-aligned report.</a:t>
            </a:r>
            <a:endParaRPr lang="en-US" sz="1100" dirty="0"/>
          </a:p>
        </p:txBody>
      </p:sp>
      <p:sp>
        <p:nvSpPr>
          <p:cNvPr id="56" name="Text 42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100" dirty="0"/>
          </a:p>
        </p:txBody>
      </p:sp>
      <p:sp>
        <p:nvSpPr>
          <p:cNvPr id="57" name="Text 43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OUR OWN DESK · A REAL INCIDENT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real AWS breach — 2 days of work, done in 2 hours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51790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were called in on a real incident case: a confirmed compromise inside an AWS environment. Here is what changed when our agents ran the full investigation.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11064240" cy="841248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91440" cy="841248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86384" y="220370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2318004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1214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SITUATION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417320" y="23774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compromise in AWS — suspicious IAM activity and an unexplained data transfer. The job: detect the scope, prove the full attack path, and deliver a containment plan.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3063240"/>
            <a:ext cx="5349240" cy="2148840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66928" y="3063240"/>
            <a:ext cx="5349240" cy="73152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22960" y="326440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OLD WAY — MANUAL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352044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 hrs</a:t>
            </a:r>
            <a:r>
              <a:rPr lang="en-US" sz="13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min — up to 2 days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822960" y="42976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Detection, scoping, attack-path reconstruction and the containment plan — all done by hand, analysts correlating CloudTrail, flow logs and IAM history.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797296" y="3835908"/>
            <a:ext cx="603504" cy="6035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982212"/>
            <a:ext cx="310896" cy="31089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281928" y="3063240"/>
            <a:ext cx="5349240" cy="214884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281928" y="3063240"/>
            <a:ext cx="5349240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537960" y="326440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D7F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OUR AGENTS + SYSTEM PROMPT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537960" y="352044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hrs</a:t>
            </a:r>
            <a:r>
              <a:rPr lang="en-US" sz="1300" dirty="0">
                <a:solidFill>
                  <a:srgbClr val="D7C9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full cycle</a:t>
            </a:r>
            <a:endParaRPr lang="en-US" sz="3800" dirty="0"/>
          </a:p>
        </p:txBody>
      </p:sp>
      <p:sp>
        <p:nvSpPr>
          <p:cNvPr id="22" name="Text 18"/>
          <p:cNvSpPr/>
          <p:nvPr/>
        </p:nvSpPr>
        <p:spPr>
          <a:xfrm>
            <a:off x="6537960" y="429768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Detection, full attack-path reconstruction and a staged containment plan — the entire cycle, agents ingesting every source at once.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66928" y="5440680"/>
            <a:ext cx="11064240" cy="868680"/>
          </a:xfrm>
          <a:prstGeom prst="rect">
            <a:avLst/>
          </a:prstGeom>
          <a:solidFill>
            <a:srgbClr val="0E0B1A"/>
          </a:solidFill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914400" y="5596128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733288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627632" y="56052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~8x faster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1627632" y="58978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to containment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4572000" y="5596128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5733288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285232" y="56052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path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285232" y="58978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to exfiltration, evidenced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8229600" y="5596128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760" y="5733288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942832" y="56052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Same day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8942832" y="58978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containment plan delivered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POINT A · THE TRIGGER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agent starts where the alert lands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53619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IR agent never starts from a blank page. It starts from a single signal — one alert, one anomaly — and validates outward from there.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468880"/>
            <a:ext cx="5074920" cy="3611880"/>
          </a:xfrm>
          <a:prstGeom prst="rect">
            <a:avLst/>
          </a:prstGeom>
          <a:solidFill>
            <a:srgbClr val="0E0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2468880"/>
            <a:ext cx="5074920" cy="9144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432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788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STARTING SIGNAL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24612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C9C4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"GuardDuty: anomalous S3 API call from unrecognized IP — UnauthorizedAccess:IAMUser/InstanceCredentialExfiltration"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297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Point A. Everything else is unknown.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470916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88720" y="47091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Whose key is it?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68680" y="503834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88720" y="503834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still active?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68680" y="536752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88720" y="53675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it touch?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56967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88720" y="56967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did it go next?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989320" y="2468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validate-and-expand loop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989320" y="29260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1052" y="3067812"/>
            <a:ext cx="283464" cy="28346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720840" y="29443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OBSERVE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6720840" y="32186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the raw event behind the alert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272784" y="3493008"/>
            <a:ext cx="0" cy="201168"/>
          </a:xfrm>
          <a:prstGeom prst="line">
            <a:avLst/>
          </a:prstGeom>
          <a:noFill/>
          <a:ln w="25400">
            <a:solidFill>
              <a:srgbClr val="E3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5989320" y="3694176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1052" y="3835908"/>
            <a:ext cx="283464" cy="28346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720840" y="37124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VALIDATE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6720840" y="398678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it with a second, independent source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272784" y="4261104"/>
            <a:ext cx="0" cy="201168"/>
          </a:xfrm>
          <a:prstGeom prst="line">
            <a:avLst/>
          </a:prstGeom>
          <a:noFill/>
          <a:ln w="25400">
            <a:solidFill>
              <a:srgbClr val="E3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5989320" y="4462272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1052" y="4604004"/>
            <a:ext cx="283464" cy="28346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720840" y="4480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EXPAND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6720840" y="47548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every entity the event touches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6272784" y="5029200"/>
            <a:ext cx="0" cy="201168"/>
          </a:xfrm>
          <a:prstGeom prst="line">
            <a:avLst/>
          </a:prstGeom>
          <a:noFill/>
          <a:ln w="25400">
            <a:solidFill>
              <a:srgbClr val="E3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5989320" y="523036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1052" y="5372100"/>
            <a:ext cx="283464" cy="28346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720840" y="52486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REPEAT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6720840" y="55229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new entity becomes the next Point A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THE AGENT VALIDATES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Each step is proven before the next begins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64240" cy="749808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947672"/>
            <a:ext cx="420624" cy="420624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Anomalous S3 call flagged</a:t>
            </a:r>
            <a:endParaRPr lang="en-US" sz="11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9202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773168" y="18105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CloudTrail event confirms the API call &amp; source IP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185416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73168" y="21488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AbuseIPDB + Shodan score the IP as malicious infra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8275320" y="1874520"/>
            <a:ext cx="0" cy="566928"/>
          </a:xfrm>
          <a:prstGeom prst="line">
            <a:avLst/>
          </a:prstGeom>
          <a:noFill/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66928" y="2642616"/>
            <a:ext cx="11064240" cy="749808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49808" y="2807208"/>
            <a:ext cx="420624" cy="420624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749808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371600" y="2688336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Identity behind the key</a:t>
            </a:r>
            <a:endParaRPr lang="en-US" sz="11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779776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73168" y="26700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access-key ID resolves to an EC2 instance role</a:t>
            </a:r>
            <a:endParaRPr lang="en-US" sz="9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3044952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773168" y="3008376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CloudTrail shows the key was never used from this ASN before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8275320" y="2734056"/>
            <a:ext cx="0" cy="566928"/>
          </a:xfrm>
          <a:prstGeom prst="line">
            <a:avLst/>
          </a:prstGeom>
          <a:noFill/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566928" y="3502152"/>
            <a:ext cx="11064240" cy="749808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749808" y="3666744"/>
            <a:ext cx="420624" cy="420624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749808" y="3666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1371600" y="3547872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access escalated</a:t>
            </a:r>
            <a:endParaRPr lang="en-US" sz="115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3639312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73168" y="352958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policy review reveals wildcard admin permissions</a:t>
            </a:r>
            <a:endParaRPr lang="en-US" sz="95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3904488"/>
            <a:ext cx="182880" cy="1828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773168" y="386791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timeline shows the policy change predates the breach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8275320" y="3593592"/>
            <a:ext cx="0" cy="566928"/>
          </a:xfrm>
          <a:prstGeom prst="line">
            <a:avLst/>
          </a:prstGeom>
          <a:noFill/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3"/>
          <p:cNvSpPr/>
          <p:nvPr/>
        </p:nvSpPr>
        <p:spPr>
          <a:xfrm>
            <a:off x="566928" y="4361688"/>
            <a:ext cx="11064240" cy="749808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>
            <a:off x="749808" y="4526280"/>
            <a:ext cx="420624" cy="420624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5"/>
          <p:cNvSpPr/>
          <p:nvPr/>
        </p:nvSpPr>
        <p:spPr>
          <a:xfrm>
            <a:off x="749808" y="4526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1371600" y="4407408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it moved</a:t>
            </a:r>
            <a:endParaRPr lang="en-US" sz="115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4498848"/>
            <a:ext cx="182880" cy="18288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4773168" y="43891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 flow logs show new east-west traffic to the DB subnet</a:t>
            </a:r>
            <a:endParaRPr lang="en-US" sz="950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4764024"/>
            <a:ext cx="182880" cy="18288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4773168" y="472744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 (Cortex XDR) confirms no process on the host did this — it's API-only</a:t>
            </a:r>
            <a:endParaRPr lang="en-US" sz="950" dirty="0"/>
          </a:p>
        </p:txBody>
      </p:sp>
      <p:sp>
        <p:nvSpPr>
          <p:cNvPr id="39" name="Shape 29"/>
          <p:cNvSpPr/>
          <p:nvPr/>
        </p:nvSpPr>
        <p:spPr>
          <a:xfrm>
            <a:off x="8275320" y="4453128"/>
            <a:ext cx="0" cy="566928"/>
          </a:xfrm>
          <a:prstGeom prst="line">
            <a:avLst/>
          </a:prstGeom>
          <a:noFill/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0"/>
          <p:cNvSpPr/>
          <p:nvPr/>
        </p:nvSpPr>
        <p:spPr>
          <a:xfrm>
            <a:off x="566928" y="5221224"/>
            <a:ext cx="11064240" cy="749808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1"/>
          <p:cNvSpPr/>
          <p:nvPr/>
        </p:nvSpPr>
        <p:spPr>
          <a:xfrm>
            <a:off x="749808" y="5385816"/>
            <a:ext cx="420624" cy="420624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2"/>
          <p:cNvSpPr/>
          <p:nvPr/>
        </p:nvSpPr>
        <p:spPr>
          <a:xfrm>
            <a:off x="749808" y="5385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1500" dirty="0"/>
          </a:p>
        </p:txBody>
      </p:sp>
      <p:sp>
        <p:nvSpPr>
          <p:cNvPr id="43" name="Text 33"/>
          <p:cNvSpPr/>
          <p:nvPr/>
        </p:nvSpPr>
        <p:spPr>
          <a:xfrm>
            <a:off x="1371600" y="5266944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left the org</a:t>
            </a:r>
            <a:endParaRPr lang="en-US" sz="1150" dirty="0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5358384"/>
            <a:ext cx="182880" cy="18288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4773168" y="524865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CloudTrail ModifySnapshotAttribute shares a volume externally</a:t>
            </a:r>
            <a:endParaRPr lang="en-US" sz="950" dirty="0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5623560"/>
            <a:ext cx="182880" cy="182880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4773168" y="5586984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destination account ID is outside the org — exfiltration confirmed</a:t>
            </a:r>
            <a:endParaRPr lang="en-US" sz="950" dirty="0"/>
          </a:p>
        </p:txBody>
      </p:sp>
      <p:sp>
        <p:nvSpPr>
          <p:cNvPr id="48" name="Shape 36"/>
          <p:cNvSpPr/>
          <p:nvPr/>
        </p:nvSpPr>
        <p:spPr>
          <a:xfrm>
            <a:off x="8275320" y="5312664"/>
            <a:ext cx="0" cy="566928"/>
          </a:xfrm>
          <a:prstGeom prst="line">
            <a:avLst/>
          </a:prstGeom>
          <a:noFill/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37"/>
          <p:cNvSpPr/>
          <p:nvPr/>
        </p:nvSpPr>
        <p:spPr>
          <a:xfrm>
            <a:off x="566928" y="61447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step is trusted on a single source — two independent confirmations, or it stays a hypothesis.</a:t>
            </a:r>
            <a:endParaRPr lang="en-US" sz="1100" dirty="0"/>
          </a:p>
        </p:txBody>
      </p:sp>
      <p:sp>
        <p:nvSpPr>
          <p:cNvPr id="50" name="Text 38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1100" dirty="0"/>
          </a:p>
        </p:txBody>
      </p:sp>
      <p:sp>
        <p:nvSpPr>
          <p:cNvPr id="51" name="Text 39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CLOSING THE DOOR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proven path to staged containment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53619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the path is proven, AI maps each attacker foothold to a precise containment action — ranked by blast radius, ready for a human to approve.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377440"/>
            <a:ext cx="11064240" cy="68580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2377440"/>
            <a:ext cx="91440" cy="68580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249631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2610612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414016"/>
            <a:ext cx="3200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Revoke the credential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754880" y="2414016"/>
            <a:ext cx="5212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Disable the IAM key &amp; attach an explicit deny policy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0241280" y="2551176"/>
            <a:ext cx="1188720" cy="338328"/>
          </a:xfrm>
          <a:prstGeom prst="roundRect">
            <a:avLst>
              <a:gd name="adj" fmla="val 16216"/>
            </a:avLst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241280" y="2551176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CONTAIN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66928" y="3154680"/>
            <a:ext cx="11064240" cy="68580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66928" y="3154680"/>
            <a:ext cx="91440" cy="68580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77240" y="32735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33878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17320" y="3191256"/>
            <a:ext cx="3200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Block the infrastructure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754880" y="3191256"/>
            <a:ext cx="5212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Quarantine the source IP / ASN at WAF &amp; security groups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10241280" y="3328416"/>
            <a:ext cx="1188720" cy="338328"/>
          </a:xfrm>
          <a:prstGeom prst="roundRect">
            <a:avLst>
              <a:gd name="adj" fmla="val 16216"/>
            </a:avLst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10241280" y="3328416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CONTAIN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566928" y="3931920"/>
            <a:ext cx="11064240" cy="68580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566928" y="3931920"/>
            <a:ext cx="91440" cy="685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777240" y="405079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4165092"/>
            <a:ext cx="228600" cy="2286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17320" y="3968496"/>
            <a:ext cx="3200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Cut the escalation path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4754880" y="3968496"/>
            <a:ext cx="5212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 the wildcard policy; re-scope the role to least privilege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10241280" y="4105656"/>
            <a:ext cx="1188720" cy="338328"/>
          </a:xfrm>
          <a:prstGeom prst="roundRect">
            <a:avLst>
              <a:gd name="adj" fmla="val 1621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10241280" y="4105656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ERADICATE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566928" y="4709160"/>
            <a:ext cx="11064240" cy="68580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566928" y="4709160"/>
            <a:ext cx="91440" cy="685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777240" y="48280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" y="4942332"/>
            <a:ext cx="228600" cy="2286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417320" y="4745736"/>
            <a:ext cx="3200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Stop the exfiltration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4754880" y="4745736"/>
            <a:ext cx="5212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Revoke the external snapshot share; rotate DB credentials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10241280" y="4882896"/>
            <a:ext cx="1188720" cy="338328"/>
          </a:xfrm>
          <a:prstGeom prst="roundRect">
            <a:avLst>
              <a:gd name="adj" fmla="val 1621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10241280" y="4882896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ERADICATE</a:t>
            </a:r>
            <a:endParaRPr lang="en-US" sz="800" dirty="0"/>
          </a:p>
        </p:txBody>
      </p:sp>
      <p:sp>
        <p:nvSpPr>
          <p:cNvPr id="37" name="Shape 31"/>
          <p:cNvSpPr/>
          <p:nvPr/>
        </p:nvSpPr>
        <p:spPr>
          <a:xfrm>
            <a:off x="566928" y="5486400"/>
            <a:ext cx="11064240" cy="68580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566928" y="5486400"/>
            <a:ext cx="91440" cy="685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777240" y="560527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540" y="5719572"/>
            <a:ext cx="228600" cy="22860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417320" y="5522976"/>
            <a:ext cx="3200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Harden &amp; verify</a:t>
            </a:r>
            <a:endParaRPr lang="en-US" sz="1250" dirty="0"/>
          </a:p>
        </p:txBody>
      </p:sp>
      <p:sp>
        <p:nvSpPr>
          <p:cNvPr id="42" name="Text 35"/>
          <p:cNvSpPr/>
          <p:nvPr/>
        </p:nvSpPr>
        <p:spPr>
          <a:xfrm>
            <a:off x="4754880" y="5522976"/>
            <a:ext cx="5212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bucket public-access block; confirm no persistence remains</a:t>
            </a:r>
            <a:endParaRPr lang="en-US" sz="1100" dirty="0"/>
          </a:p>
        </p:txBody>
      </p:sp>
      <p:sp>
        <p:nvSpPr>
          <p:cNvPr id="43" name="Shape 36"/>
          <p:cNvSpPr/>
          <p:nvPr/>
        </p:nvSpPr>
        <p:spPr>
          <a:xfrm>
            <a:off x="10241280" y="5660136"/>
            <a:ext cx="1188720" cy="338328"/>
          </a:xfrm>
          <a:prstGeom prst="roundRect">
            <a:avLst>
              <a:gd name="adj" fmla="val 16216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7"/>
          <p:cNvSpPr/>
          <p:nvPr/>
        </p:nvSpPr>
        <p:spPr>
          <a:xfrm>
            <a:off x="10241280" y="5660136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RECOVER</a:t>
            </a:r>
            <a:endParaRPr lang="en-US" sz="800" dirty="0"/>
          </a:p>
        </p:txBody>
      </p:sp>
      <p:sp>
        <p:nvSpPr>
          <p:cNvPr id="45" name="Text 38"/>
          <p:cNvSpPr/>
          <p:nvPr/>
        </p:nvSpPr>
        <p:spPr>
          <a:xfrm>
            <a:off x="3637582" y="629749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0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Human-in-the-loop:  </a:t>
            </a:r>
            <a:r>
              <a:rPr lang="en-US" sz="115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stages the commands. A responder approves. Nothing destructive runs unattended.</a:t>
            </a:r>
            <a:endParaRPr lang="en-US" sz="1150" dirty="0"/>
          </a:p>
        </p:txBody>
      </p:sp>
      <p:sp>
        <p:nvSpPr>
          <p:cNvPr id="46" name="Text 39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1100" dirty="0"/>
          </a:p>
        </p:txBody>
      </p:sp>
      <p:sp>
        <p:nvSpPr>
          <p:cNvPr id="47" name="Text 40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KNOWLEDGE PATH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incident, four artifacts — generated automatically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2697480" cy="3657600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2697480" cy="9144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86968" y="224028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" y="24460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6968" y="32461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attack graph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86968" y="39776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visual causal chain — every node evidenced, every edge a log reference.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29000" y="1874520"/>
            <a:ext cx="2697480" cy="3657600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29000" y="1874520"/>
            <a:ext cx="2697480" cy="9144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749040" y="224028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4780" y="244602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49040" y="32461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executive narrative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749040" y="39776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Plain-language story of what happened, in business terms, for leadership.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91072" y="1874520"/>
            <a:ext cx="2697480" cy="3657600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291072" y="1874520"/>
            <a:ext cx="2697480" cy="9144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611112" y="224028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6852" y="244602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11112" y="32461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ATT&amp;CK map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611112" y="39776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 tagged end to end — feeds detection engineering &amp; purple teams.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153144" y="1874520"/>
            <a:ext cx="2697480" cy="3657600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9153144" y="1874520"/>
            <a:ext cx="2697480" cy="9144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9473184" y="224028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8924" y="244602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473184" y="32461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response runbook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9473184" y="39776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containment actions with exact commands — reusable next time.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66928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PDF nobody re-read is now a queryable knowledge base. Next breach, the agent starts already knowing this one.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-1828800"/>
            <a:ext cx="5852160" cy="5852160"/>
          </a:xfrm>
          <a:prstGeom prst="ellipse">
            <a:avLst/>
          </a:prstGeom>
          <a:solidFill>
            <a:srgbClr val="6D28D9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56032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Which tools to use — and how to wire them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is only as good as what it can see and touch. Here is the practical stack: enrichment, telemetry, reasoning, and action.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IR TOOL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layers an AI responder needs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1064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91440" cy="96012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05740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2205990"/>
            <a:ext cx="297180" cy="2971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9933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TELEMETRY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91640" y="2359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 — the ground truth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0" y="2057400"/>
            <a:ext cx="0" cy="594360"/>
          </a:xfrm>
          <a:prstGeom prst="line">
            <a:avLst/>
          </a:prstGeom>
          <a:noFill/>
          <a:ln w="12700">
            <a:solidFill>
              <a:srgbClr val="E3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46320" y="187452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0E0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CloudTrail · VPC Flow Logs · GuardDuty · Cortex XDR · SIEM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66928" y="2953512"/>
            <a:ext cx="11064240" cy="96012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66928" y="2953512"/>
            <a:ext cx="91440" cy="96012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68680" y="3136392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" y="3284982"/>
            <a:ext cx="297180" cy="2971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91640" y="307238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ENRICHMENT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691640" y="34381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entity known-bad?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572000" y="3136392"/>
            <a:ext cx="0" cy="594360"/>
          </a:xfrm>
          <a:prstGeom prst="line">
            <a:avLst/>
          </a:prstGeom>
          <a:noFill/>
          <a:ln w="12700">
            <a:solidFill>
              <a:srgbClr val="E3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846320" y="2953512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0E0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VirusTotal · Shodan · AbuseIPDB · MalwareBazaar · YARA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66928" y="4032504"/>
            <a:ext cx="11064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66928" y="4032504"/>
            <a:ext cx="91440" cy="96012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868680" y="4215384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270" y="4363974"/>
            <a:ext cx="297180" cy="2971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691640" y="415137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REASONING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691640" y="45171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Correlate, hypothesize, narrate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572000" y="4215384"/>
            <a:ext cx="0" cy="594360"/>
          </a:xfrm>
          <a:prstGeom prst="line">
            <a:avLst/>
          </a:prstGeom>
          <a:noFill/>
          <a:ln w="12700">
            <a:solidFill>
              <a:srgbClr val="E3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4846320" y="4032504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0E0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agent · attack-graph builder · MITRE ATT&amp;CK mapper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566928" y="5111496"/>
            <a:ext cx="11064240" cy="96012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566928" y="5111496"/>
            <a:ext cx="91440" cy="96012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868680" y="5294376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270" y="5442966"/>
            <a:ext cx="297180" cy="2971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691640" y="52303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1691640" y="5596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Contain, eradicate, recover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4572000" y="5294376"/>
            <a:ext cx="0" cy="594360"/>
          </a:xfrm>
          <a:prstGeom prst="line">
            <a:avLst/>
          </a:prstGeom>
          <a:noFill/>
          <a:ln w="12700">
            <a:solidFill>
              <a:srgbClr val="E3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4846320" y="5111496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0E0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 API calls · WAF / security groups · IAM policy engine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DO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reference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51790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become agent capabilities through one contract — a tool-use / MCP layer. The LLM orchestrates; the tools execute.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11064240" cy="1207008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1005840" cy="1207008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2103120"/>
            <a:ext cx="1005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783080" y="22494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INPUTS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83080" y="261518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&amp; enrichment APIs feed normalized signals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0" y="2523744"/>
            <a:ext cx="1005840" cy="365760"/>
          </a:xfrm>
          <a:prstGeom prst="roundRect">
            <a:avLst>
              <a:gd name="adj" fmla="val 17500"/>
            </a:avLst>
          </a:prstGeom>
          <a:solidFill>
            <a:srgbClr val="0E0B1A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0" y="25237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CloudTrail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077456" y="2523744"/>
            <a:ext cx="930859" cy="365760"/>
          </a:xfrm>
          <a:prstGeom prst="roundRect">
            <a:avLst>
              <a:gd name="adj" fmla="val 17500"/>
            </a:avLst>
          </a:prstGeom>
          <a:solidFill>
            <a:srgbClr val="0E0B1A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077456" y="2523744"/>
            <a:ext cx="9308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GuardDuty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36331" y="2523744"/>
            <a:ext cx="1005840" cy="365760"/>
          </a:xfrm>
          <a:prstGeom prst="roundRect">
            <a:avLst>
              <a:gd name="adj" fmla="val 17500"/>
            </a:avLst>
          </a:prstGeom>
          <a:solidFill>
            <a:srgbClr val="0E0B1A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36331" y="25237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VirusTotal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270187" y="2523744"/>
            <a:ext cx="705917" cy="365760"/>
          </a:xfrm>
          <a:prstGeom prst="roundRect">
            <a:avLst>
              <a:gd name="adj" fmla="val 17500"/>
            </a:avLst>
          </a:prstGeom>
          <a:solidFill>
            <a:srgbClr val="0E0B1A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270187" y="2523744"/>
            <a:ext cx="7059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Shodan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104120" y="2523744"/>
            <a:ext cx="930859" cy="365760"/>
          </a:xfrm>
          <a:prstGeom prst="roundRect">
            <a:avLst>
              <a:gd name="adj" fmla="val 17500"/>
            </a:avLst>
          </a:prstGeom>
          <a:solidFill>
            <a:srgbClr val="0E0B1A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104120" y="2523744"/>
            <a:ext cx="9308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AbuseIPDB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" y="3474720"/>
            <a:ext cx="11064240" cy="1207008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66928" y="3474720"/>
            <a:ext cx="1005840" cy="1207008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6928" y="3474720"/>
            <a:ext cx="1005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1783080" y="36210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ORCHESTRATION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783080" y="398678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agent reasons over an MCP / tool-use contract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0" y="3895344"/>
            <a:ext cx="555955" cy="365760"/>
          </a:xfrm>
          <a:prstGeom prst="roundRect">
            <a:avLst>
              <a:gd name="adj" fmla="val 17500"/>
            </a:avLst>
          </a:prstGeom>
          <a:solidFill>
            <a:srgbClr val="0E0B1A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43600" y="3895344"/>
            <a:ext cx="5559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27571" y="3895344"/>
            <a:ext cx="930859" cy="365760"/>
          </a:xfrm>
          <a:prstGeom prst="roundRect">
            <a:avLst>
              <a:gd name="adj" fmla="val 17500"/>
            </a:avLst>
          </a:prstGeom>
          <a:solidFill>
            <a:srgbClr val="0E0B1A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627571" y="3895344"/>
            <a:ext cx="9308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tool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686446" y="3895344"/>
            <a:ext cx="855878" cy="365760"/>
          </a:xfrm>
          <a:prstGeom prst="roundRect">
            <a:avLst>
              <a:gd name="adj" fmla="val 17500"/>
            </a:avLst>
          </a:prstGeom>
          <a:solidFill>
            <a:srgbClr val="0E0B1A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686446" y="3895344"/>
            <a:ext cx="855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670341" y="3895344"/>
            <a:ext cx="705917" cy="365760"/>
          </a:xfrm>
          <a:prstGeom prst="roundRect">
            <a:avLst>
              <a:gd name="adj" fmla="val 17500"/>
            </a:avLst>
          </a:prstGeom>
          <a:solidFill>
            <a:srgbClr val="0E0B1A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670341" y="3895344"/>
            <a:ext cx="7059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504274" y="3895344"/>
            <a:ext cx="705917" cy="365760"/>
          </a:xfrm>
          <a:prstGeom prst="roundRect">
            <a:avLst>
              <a:gd name="adj" fmla="val 17500"/>
            </a:avLst>
          </a:prstGeom>
          <a:solidFill>
            <a:srgbClr val="0E0B1A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504274" y="3895344"/>
            <a:ext cx="7059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846320"/>
            <a:ext cx="11064240" cy="1207008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66928" y="4846320"/>
            <a:ext cx="1005840" cy="12070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66928" y="4846320"/>
            <a:ext cx="1005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1783080" y="49926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783080" y="535838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Graph, narrative &amp; staged containment commands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943600" y="5266944"/>
            <a:ext cx="1155802" cy="365760"/>
          </a:xfrm>
          <a:prstGeom prst="roundRect">
            <a:avLst>
              <a:gd name="adj" fmla="val 17500"/>
            </a:avLst>
          </a:prstGeom>
          <a:solidFill>
            <a:srgbClr val="0E0B1A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943600" y="5266944"/>
            <a:ext cx="11558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graph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227418" y="5266944"/>
            <a:ext cx="1005840" cy="365760"/>
          </a:xfrm>
          <a:prstGeom prst="roundRect">
            <a:avLst>
              <a:gd name="adj" fmla="val 17500"/>
            </a:avLst>
          </a:prstGeom>
          <a:solidFill>
            <a:srgbClr val="0E0B1A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227418" y="52669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ATT&amp;CK map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361274" y="5266944"/>
            <a:ext cx="780898" cy="365760"/>
          </a:xfrm>
          <a:prstGeom prst="roundRect">
            <a:avLst>
              <a:gd name="adj" fmla="val 17500"/>
            </a:avLst>
          </a:prstGeom>
          <a:solidFill>
            <a:srgbClr val="0E0B1A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361274" y="5266944"/>
            <a:ext cx="780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Runbook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270187" y="5266944"/>
            <a:ext cx="1230782" cy="365760"/>
          </a:xfrm>
          <a:prstGeom prst="roundRect">
            <a:avLst>
              <a:gd name="adj" fmla="val 17500"/>
            </a:avLst>
          </a:prstGeom>
          <a:solidFill>
            <a:srgbClr val="0E0B1A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270187" y="5266944"/>
            <a:ext cx="12307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gate</a:t>
            </a:r>
            <a:endParaRPr lang="en-US" sz="900" dirty="0"/>
          </a:p>
        </p:txBody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364992"/>
            <a:ext cx="201168" cy="201168"/>
          </a:xfrm>
          <a:prstGeom prst="rect">
            <a:avLst/>
          </a:prstGeom>
        </p:spPr>
      </p:pic>
      <p:pic>
        <p:nvPicPr>
          <p:cNvPr id="4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4736592"/>
            <a:ext cx="201168" cy="201168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1100" dirty="0"/>
          </a:p>
        </p:txBody>
      </p:sp>
      <p:sp>
        <p:nvSpPr>
          <p:cNvPr id="51" name="Text 47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AGENT'S OPERATING CONTRACT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 all starts with the system prompt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 tells the agent to begin at Point A and validate forward — never assume, always confirm. A full template ships with the repo.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6903720" cy="3977640"/>
          </a:xfrm>
          <a:prstGeom prst="rect">
            <a:avLst/>
          </a:prstGeom>
          <a:solidFill>
            <a:srgbClr val="120E26"/>
          </a:solidFill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6903720" cy="384048"/>
          </a:xfrm>
          <a:prstGeom prst="rect">
            <a:avLst/>
          </a:prstGeom>
          <a:solidFill>
            <a:srgbClr val="2A2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ir-agent.system.md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ROLE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90322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an incident-response analyst agent.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7240" y="331470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PRIME DIRECTIVE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7240" y="35204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from the single triggering signal (Point A).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77240" y="372618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 every claim with TWO independent sources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" y="393192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treating it as fact. Never assume intent.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77240" y="413766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" y="434340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LOOP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77240" y="45491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 -&gt; enrich -&gt; validate -&gt; expand -&gt; repeat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7240" y="475488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confirmed entity becomes the next Point A.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77240" y="496062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7240" y="516636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CONSTRAINTS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77240" y="537210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 destructive action without human approval.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7240" y="55778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Cite the log/source for every node you assert.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7240" y="578358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Map each step to MITRE ATT&amp;CK.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26680" y="21945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design holds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726680" y="2743200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9268" y="2875788"/>
            <a:ext cx="265176" cy="26517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412480" y="27432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Bounded start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8412480" y="30175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blank page — one signal anchors the whole investigation.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726680" y="3593592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9268" y="3726180"/>
            <a:ext cx="265176" cy="265176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8412480" y="35935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Forced validation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8412480" y="386791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Two-source rule kills false positives and analyst bias.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7726680" y="4443984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9268" y="4576572"/>
            <a:ext cx="265176" cy="265176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412480" y="444398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Self-extending</a:t>
            </a:r>
            <a:endParaRPr lang="en-US" sz="1150" dirty="0"/>
          </a:p>
        </p:txBody>
      </p:sp>
      <p:sp>
        <p:nvSpPr>
          <p:cNvPr id="36" name="Text 31"/>
          <p:cNvSpPr/>
          <p:nvPr/>
        </p:nvSpPr>
        <p:spPr>
          <a:xfrm>
            <a:off x="8412480" y="471830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proven entity reseeds the loop until the path is whole.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7726680" y="5294376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9268" y="5426964"/>
            <a:ext cx="265176" cy="265176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8412480" y="52943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 by default</a:t>
            </a:r>
            <a:endParaRPr lang="en-US" sz="1150" dirty="0"/>
          </a:p>
        </p:txBody>
      </p:sp>
      <p:sp>
        <p:nvSpPr>
          <p:cNvPr id="40" name="Text 34"/>
          <p:cNvSpPr/>
          <p:nvPr/>
        </p:nvSpPr>
        <p:spPr>
          <a:xfrm>
            <a:off x="8412480" y="556869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Containment is staged, never auto-fired — human approves.</a:t>
            </a:r>
            <a:endParaRPr lang="en-US" sz="950" dirty="0"/>
          </a:p>
        </p:txBody>
      </p:sp>
      <p:sp>
        <p:nvSpPr>
          <p:cNvPr id="41" name="Text 35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0E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3108960"/>
            <a:ext cx="5852160" cy="5852160"/>
          </a:xfrm>
          <a:prstGeom prst="ellipse">
            <a:avLst/>
          </a:prstGeom>
          <a:solidFill>
            <a:srgbClr val="6D28D9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187452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1031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971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03  ·  LIVE RELEASE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33832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We're open-sourcing the toolkit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45720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you've seen — the enrichment agents, the attack-graph builder, the system prompt — released free for the security community.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STARTED IN MINUTES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commands to your first reconstruction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6766560" cy="3108960"/>
          </a:xfrm>
          <a:prstGeom prst="rect">
            <a:avLst/>
          </a:prstGeom>
          <a:solidFill>
            <a:srgbClr val="120E26"/>
          </a:solidFill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6766560" cy="384048"/>
          </a:xfrm>
          <a:prstGeom prst="rect">
            <a:avLst/>
          </a:prstGeom>
          <a:solidFill>
            <a:srgbClr val="2A2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947672"/>
            <a:ext cx="146304" cy="146304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97280" y="1947672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25880" y="1947672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00200" y="1828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84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github.com/devel-group/ai-incident-response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9290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84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cloning toolkit + sample telemetry...        done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96265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C4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23240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up -d enrichment-agents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5021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84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virustotal · shodan · abuseipdb · yara       ready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77190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C4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40416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ir-agent investigate --signal alerts/point-a.json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431139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validating... expanding... mapping ATT&amp;CK...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458114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attack path reconstructed -&gt; report.html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35240" y="1874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 get back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635240" y="242316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970" y="2548890"/>
            <a:ext cx="251460" cy="2514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302752" y="2423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interactive attack-graph report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635240" y="3081528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0970" y="3207258"/>
            <a:ext cx="251460" cy="25146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302752" y="308152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MITRE ATT&amp;CK coverage map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7635240" y="3739896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0970" y="3865626"/>
            <a:ext cx="251460" cy="2514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302752" y="37398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ranked containment runbook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7635240" y="4398264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0970" y="4523994"/>
            <a:ext cx="251460" cy="2514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302752" y="439826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executive-ready incident narrative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566928" y="5212080"/>
            <a:ext cx="11064240" cy="9144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440680"/>
            <a:ext cx="457200" cy="4572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508760" y="52120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Apache-2.0 licensed  ·  contributions welcome  ·  built for LATAM banking &amp; fintech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YOUR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adopt this without boiling the ocean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3566160" cy="320040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3566160" cy="9144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6968" y="2240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905256" y="3063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ASSIST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05256" y="3538728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AI alongside analysts. It drafts the timeline; humans verify everything.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05256" y="4599432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05256" y="45994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Weeks 1–4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15968" y="1965960"/>
            <a:ext cx="3566160" cy="320040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15968" y="1965960"/>
            <a:ext cx="3566160" cy="9144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36008" y="2240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4654296" y="3063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ACCELERATE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54296" y="3538728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owns enrichment &amp; graph-building. Analysts focus on decisions &amp; containment.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54296" y="4599432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54296" y="45994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Months 2–3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65008" y="1965960"/>
            <a:ext cx="3566160" cy="3200400"/>
          </a:xfrm>
          <a:prstGeom prst="rect">
            <a:avLst/>
          </a:prstGeom>
          <a:solidFill>
            <a:srgbClr val="F4F2FA"/>
          </a:solidFill>
          <a:ln w="12700">
            <a:solidFill>
              <a:srgbClr val="E3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065008" y="1965960"/>
            <a:ext cx="356616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85048" y="2240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8403336" y="3063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0E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ORCHESTRATE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03336" y="3538728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runs the full loop and pre-stages containment. Humans approve at the gate.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403336" y="4599432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03336" y="45994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 4+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66928" y="55321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0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 that doesn't change:  </a:t>
            </a:r>
            <a:r>
              <a:rPr lang="en-US" sz="13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compresses the investigation. Humans still own the irreversible decisions.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TO REMEMBER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Five things to take back to your SOC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1064240" cy="768096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2048256"/>
            <a:ext cx="420624" cy="420624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048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874520"/>
            <a:ext cx="10058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response is shifting from manual forensics to AI-driven foresight — globally, now.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752344"/>
            <a:ext cx="11064240" cy="768096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2926080"/>
            <a:ext cx="420624" cy="420624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926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2752344"/>
            <a:ext cx="10058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AI's edge is reconstruction: it builds the full, proven attack path from entry to exfiltration.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630168"/>
            <a:ext cx="11064240" cy="768096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7240" y="3803904"/>
            <a:ext cx="420624" cy="420624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803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630168"/>
            <a:ext cx="10058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starts at Point A — one signal — and validates outward with two independent sources.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507992"/>
            <a:ext cx="11064240" cy="768096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4681728"/>
            <a:ext cx="420624" cy="420624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4681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4507992"/>
            <a:ext cx="10058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tools by the question: enrichment, telemetry, reasoning, action — wired through one contract.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385816"/>
            <a:ext cx="11064240" cy="768096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7240" y="5559552"/>
            <a:ext cx="420624" cy="420624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5559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5385816"/>
            <a:ext cx="10058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toolkit is open source. Clone it today and run your first reconstruction this week.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23157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 GROUP  ·  RED SPEARS LABS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412480" y="-2194560"/>
            <a:ext cx="6400800" cy="6400800"/>
          </a:xfrm>
          <a:prstGeom prst="ellipse">
            <a:avLst/>
          </a:prstGeom>
          <a:solidFill>
            <a:srgbClr val="6D28D9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875520" y="3566160"/>
            <a:ext cx="4389120" cy="4389120"/>
          </a:xfrm>
          <a:prstGeom prst="ellipse">
            <a:avLst/>
          </a:prstGeom>
          <a:solidFill>
            <a:srgbClr val="E11D48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breach will be fast.</a:t>
            </a:r>
            <a:endParaRPr lang="en-US" sz="44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response can be faster.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the toolkit, run a reconstruction, and bring AI-driven incident response to your team.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800600"/>
            <a:ext cx="7040880" cy="1051560"/>
          </a:xfrm>
          <a:prstGeom prst="rect">
            <a:avLst/>
          </a:prstGeom>
          <a:solidFill>
            <a:srgbClr val="1A1430"/>
          </a:solidFill>
          <a:ln w="12700">
            <a:solidFill>
              <a:srgbClr val="2A23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51560" y="502920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292" y="5170932"/>
            <a:ext cx="283464" cy="2834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28800" y="4800600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github.com/devel-group/ai-incident-response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8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Camilo Fernández  ·  Devel Group  ·  Red Spears Labs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B8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DEVEL GROUP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2465</Words>
  <Application>Microsoft Office PowerPoint</Application>
  <PresentationFormat>Widescreen</PresentationFormat>
  <Paragraphs>414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Incident Response, Rewritten by AI</dc:title>
  <dc:subject>PptxGenJS Presentation</dc:subject>
  <dc:creator>Devel Group · Red Spears Labs</dc:creator>
  <cp:lastModifiedBy>camilo Fernandez</cp:lastModifiedBy>
  <cp:revision>4</cp:revision>
  <dcterms:created xsi:type="dcterms:W3CDTF">2026-05-21T04:41:52Z</dcterms:created>
  <dcterms:modified xsi:type="dcterms:W3CDTF">2026-05-21T05:34:40Z</dcterms:modified>
</cp:coreProperties>
</file>